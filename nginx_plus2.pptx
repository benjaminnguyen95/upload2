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Bold" charset="1" panose="00000800000000000000"/>
      <p:regular r:id="rId19"/>
    </p:embeddedFont>
    <p:embeddedFont>
      <p:font typeface="Poppins" charset="1" panose="00000500000000000000"/>
      <p:regular r:id="rId20"/>
    </p:embeddedFont>
    <p:embeddedFont>
      <p:font typeface="Bricolage Grotesque" charset="1" panose="020B0605040402000204"/>
      <p:regular r:id="rId21"/>
    </p:embeddedFont>
    <p:embeddedFont>
      <p:font typeface="Bricolage Grotesque Bold" charset="1" panose="020B0605040402000204"/>
      <p:regular r:id="rId22"/>
    </p:embeddedFont>
    <p:embeddedFont>
      <p:font typeface="Canva Sans Bold" charset="1" panose="020B08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 Id="rId5"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7.jpeg" Type="http://schemas.openxmlformats.org/officeDocument/2006/relationships/image"/><Relationship Id="rId5"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9.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317920" y="1180533"/>
            <a:ext cx="10746291" cy="8731361"/>
          </a:xfrm>
          <a:custGeom>
            <a:avLst/>
            <a:gdLst/>
            <a:ahLst/>
            <a:cxnLst/>
            <a:rect r="r" b="b" t="t" l="l"/>
            <a:pathLst>
              <a:path h="8731361" w="10746291">
                <a:moveTo>
                  <a:pt x="0" y="0"/>
                </a:moveTo>
                <a:lnTo>
                  <a:pt x="10746291" y="0"/>
                </a:lnTo>
                <a:lnTo>
                  <a:pt x="10746291" y="8731361"/>
                </a:lnTo>
                <a:lnTo>
                  <a:pt x="0" y="8731361"/>
                </a:lnTo>
                <a:lnTo>
                  <a:pt x="0" y="0"/>
                </a:lnTo>
                <a:close/>
              </a:path>
            </a:pathLst>
          </a:custGeom>
          <a:blipFill>
            <a:blip r:embed="rId2"/>
            <a:stretch>
              <a:fillRect l="0" t="0" r="0" b="0"/>
            </a:stretch>
          </a:blipFill>
        </p:spPr>
      </p:sp>
      <p:sp>
        <p:nvSpPr>
          <p:cNvPr name="Freeform 6" id="6"/>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3320099" y="7330105"/>
            <a:ext cx="2772573" cy="1872812"/>
            <a:chOff x="0" y="0"/>
            <a:chExt cx="3696764" cy="2497082"/>
          </a:xfrm>
        </p:grpSpPr>
        <p:grpSp>
          <p:nvGrpSpPr>
            <p:cNvPr name="Group 8" id="8"/>
            <p:cNvGrpSpPr/>
            <p:nvPr/>
          </p:nvGrpSpPr>
          <p:grpSpPr>
            <a:xfrm rot="0">
              <a:off x="0" y="385418"/>
              <a:ext cx="134591" cy="13459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0" id="10"/>
              <p:cNvSpPr txBox="true"/>
              <p:nvPr/>
            </p:nvSpPr>
            <p:spPr>
              <a:xfrm>
                <a:off x="76200" y="104775"/>
                <a:ext cx="660400" cy="631825"/>
              </a:xfrm>
              <a:prstGeom prst="rect">
                <a:avLst/>
              </a:prstGeom>
            </p:spPr>
            <p:txBody>
              <a:bodyPr anchor="ctr" rtlCol="false" tIns="50800" lIns="50800" bIns="50800" rIns="50800"/>
              <a:lstStyle/>
              <a:p>
                <a:pPr algn="ctr" marL="0" indent="0" lvl="0">
                  <a:lnSpc>
                    <a:spcPts val="1308"/>
                  </a:lnSpc>
                </a:pPr>
              </a:p>
            </p:txBody>
          </p:sp>
        </p:grpSp>
        <p:sp>
          <p:nvSpPr>
            <p:cNvPr name="TextBox 11" id="11"/>
            <p:cNvSpPr txBox="true"/>
            <p:nvPr/>
          </p:nvSpPr>
          <p:spPr>
            <a:xfrm rot="0">
              <a:off x="506484" y="47625"/>
              <a:ext cx="2749098" cy="381297"/>
            </a:xfrm>
            <a:prstGeom prst="rect">
              <a:avLst/>
            </a:prstGeom>
          </p:spPr>
          <p:txBody>
            <a:bodyPr anchor="t" rtlCol="false" tIns="0" lIns="0" bIns="0" rIns="0">
              <a:spAutoFit/>
            </a:bodyPr>
            <a:lstStyle/>
            <a:p>
              <a:pPr algn="l" marL="0" indent="0" lvl="0">
                <a:lnSpc>
                  <a:spcPts val="1869"/>
                </a:lnSpc>
              </a:pPr>
              <a:r>
                <a:rPr lang="en-US" b="true" sz="2149">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TRÌNH BÀY BỞI</a:t>
              </a:r>
            </a:p>
          </p:txBody>
        </p:sp>
        <p:sp>
          <p:nvSpPr>
            <p:cNvPr name="TextBox 12" id="12"/>
            <p:cNvSpPr txBox="true"/>
            <p:nvPr/>
          </p:nvSpPr>
          <p:spPr>
            <a:xfrm rot="0">
              <a:off x="506484" y="536670"/>
              <a:ext cx="3190280" cy="690116"/>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Nguyễn Hùng Mạnh</a:t>
              </a:r>
            </a:p>
          </p:txBody>
        </p:sp>
        <p:sp>
          <p:nvSpPr>
            <p:cNvPr name="TextBox 13" id="13"/>
            <p:cNvSpPr txBox="true"/>
            <p:nvPr/>
          </p:nvSpPr>
          <p:spPr>
            <a:xfrm rot="0">
              <a:off x="506484" y="1323462"/>
              <a:ext cx="2749098" cy="381297"/>
            </a:xfrm>
            <a:prstGeom prst="rect">
              <a:avLst/>
            </a:prstGeom>
          </p:spPr>
          <p:txBody>
            <a:bodyPr anchor="t" rtlCol="false" tIns="0" lIns="0" bIns="0" rIns="0">
              <a:spAutoFit/>
            </a:bodyPr>
            <a:lstStyle/>
            <a:p>
              <a:pPr algn="l" marL="0" indent="0" lvl="0">
                <a:lnSpc>
                  <a:spcPts val="1869"/>
                </a:lnSpc>
              </a:pPr>
              <a:r>
                <a:rPr lang="en-US" b="true" sz="2149">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CHỨC VỤ</a:t>
              </a:r>
            </a:p>
          </p:txBody>
        </p:sp>
        <p:sp>
          <p:nvSpPr>
            <p:cNvPr name="TextBox 14" id="14"/>
            <p:cNvSpPr txBox="true"/>
            <p:nvPr/>
          </p:nvSpPr>
          <p:spPr>
            <a:xfrm rot="0">
              <a:off x="506484" y="1806966"/>
              <a:ext cx="3190280" cy="690116"/>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Chuyên gia SRE DevOps</a:t>
              </a:r>
            </a:p>
          </p:txBody>
        </p:sp>
        <p:grpSp>
          <p:nvGrpSpPr>
            <p:cNvPr name="Group 15" id="15"/>
            <p:cNvGrpSpPr/>
            <p:nvPr/>
          </p:nvGrpSpPr>
          <p:grpSpPr>
            <a:xfrm rot="0">
              <a:off x="0" y="1661082"/>
              <a:ext cx="134591" cy="1345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76200" y="104775"/>
                <a:ext cx="660400" cy="631825"/>
              </a:xfrm>
              <a:prstGeom prst="rect">
                <a:avLst/>
              </a:prstGeom>
            </p:spPr>
            <p:txBody>
              <a:bodyPr anchor="ctr" rtlCol="false" tIns="50800" lIns="50800" bIns="50800" rIns="50800"/>
              <a:lstStyle/>
              <a:p>
                <a:pPr algn="ctr" marL="0" indent="0" lvl="0">
                  <a:lnSpc>
                    <a:spcPts val="1308"/>
                  </a:lnSpc>
                </a:pPr>
              </a:p>
            </p:txBody>
          </p:sp>
        </p:grpSp>
      </p:grpSp>
      <p:sp>
        <p:nvSpPr>
          <p:cNvPr name="TextBox 18" id="18"/>
          <p:cNvSpPr txBox="true"/>
          <p:nvPr/>
        </p:nvSpPr>
        <p:spPr>
          <a:xfrm rot="0">
            <a:off x="3320099" y="1192429"/>
            <a:ext cx="5996813" cy="4027086"/>
          </a:xfrm>
          <a:prstGeom prst="rect">
            <a:avLst/>
          </a:prstGeom>
        </p:spPr>
        <p:txBody>
          <a:bodyPr anchor="t" rtlCol="false" tIns="0" lIns="0" bIns="0" rIns="0">
            <a:spAutoFit/>
          </a:bodyPr>
          <a:lstStyle/>
          <a:p>
            <a:pPr algn="l" marL="0" indent="0" lvl="0">
              <a:lnSpc>
                <a:spcPts val="7819"/>
              </a:lnSpc>
            </a:pPr>
            <a:r>
              <a:rPr lang="en-US" sz="7978" spc="-51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Đề xuất thay thế</a:t>
            </a:r>
          </a:p>
          <a:p>
            <a:pPr algn="l" marL="0" indent="0" lvl="0">
              <a:lnSpc>
                <a:spcPts val="7819"/>
              </a:lnSpc>
            </a:pPr>
            <a:r>
              <a:rPr lang="en-US" sz="7978" spc="-51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NGINX Ingress</a:t>
            </a:r>
          </a:p>
          <a:p>
            <a:pPr algn="l" marL="0" indent="0" lvl="0">
              <a:lnSpc>
                <a:spcPts val="7819"/>
              </a:lnSpc>
            </a:pPr>
            <a:r>
              <a:rPr lang="en-US" sz="7978" spc="-51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Controller</a:t>
            </a:r>
          </a:p>
        </p:txBody>
      </p:sp>
      <p:sp>
        <p:nvSpPr>
          <p:cNvPr name="TextBox 19" id="19"/>
          <p:cNvSpPr txBox="true"/>
          <p:nvPr/>
        </p:nvSpPr>
        <p:spPr>
          <a:xfrm rot="0">
            <a:off x="3320099" y="5551934"/>
            <a:ext cx="5696631" cy="1119447"/>
          </a:xfrm>
          <a:prstGeom prst="rect">
            <a:avLst/>
          </a:prstGeom>
        </p:spPr>
        <p:txBody>
          <a:bodyPr anchor="t" rtlCol="false" tIns="0" lIns="0" bIns="0" rIns="0">
            <a:spAutoFit/>
          </a:bodyPr>
          <a:lstStyle/>
          <a:p>
            <a:pPr algn="just" marL="0" indent="0" lvl="0">
              <a:lnSpc>
                <a:spcPts val="2967"/>
              </a:lnSpc>
            </a:pPr>
            <a:r>
              <a:rPr lang="en-US" sz="2318" spc="-6">
                <a:solidFill>
                  <a:srgbClr val="3A58E4"/>
                </a:solidFill>
                <a:latin typeface="Poppins"/>
                <a:ea typeface="Poppins"/>
                <a:cs typeface="Poppins"/>
                <a:sym typeface="Poppins"/>
              </a:rPr>
              <a:t>Lợi ích kinh doanh và chiến lược tránh vendor lock-in khi chuyển đổi sang F5 NGINX Plus.</a:t>
            </a:r>
          </a:p>
        </p:txBody>
      </p:sp>
      <p:sp>
        <p:nvSpPr>
          <p:cNvPr name="TextBox 20" id="20"/>
          <p:cNvSpPr txBox="true"/>
          <p:nvPr/>
        </p:nvSpPr>
        <p:spPr>
          <a:xfrm rot="0">
            <a:off x="350972" y="1968832"/>
            <a:ext cx="1704171" cy="342132"/>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F5 NGINX</a:t>
            </a:r>
          </a:p>
        </p:txBody>
      </p:sp>
      <p:sp>
        <p:nvSpPr>
          <p:cNvPr name="TextBox 21" id="21"/>
          <p:cNvSpPr txBox="true"/>
          <p:nvPr/>
        </p:nvSpPr>
        <p:spPr>
          <a:xfrm rot="0">
            <a:off x="360740" y="2310991"/>
            <a:ext cx="1704171" cy="342132"/>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Plus</a:t>
            </a:r>
          </a:p>
        </p:txBody>
      </p:sp>
      <p:grpSp>
        <p:nvGrpSpPr>
          <p:cNvPr name="Group 22" id="22"/>
          <p:cNvGrpSpPr/>
          <p:nvPr/>
        </p:nvGrpSpPr>
        <p:grpSpPr>
          <a:xfrm rot="0">
            <a:off x="360740" y="8287049"/>
            <a:ext cx="1713939" cy="684264"/>
            <a:chOff x="0" y="0"/>
            <a:chExt cx="2285252" cy="912352"/>
          </a:xfrm>
        </p:grpSpPr>
        <p:sp>
          <p:nvSpPr>
            <p:cNvPr name="TextBox 23" id="23"/>
            <p:cNvSpPr txBox="true"/>
            <p:nvPr/>
          </p:nvSpPr>
          <p:spPr>
            <a:xfrm rot="0">
              <a:off x="0" y="0"/>
              <a:ext cx="2272228" cy="456176"/>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2025</a:t>
              </a:r>
            </a:p>
          </p:txBody>
        </p:sp>
        <p:sp>
          <p:nvSpPr>
            <p:cNvPr name="TextBox 24" id="24"/>
            <p:cNvSpPr txBox="true"/>
            <p:nvPr/>
          </p:nvSpPr>
          <p:spPr>
            <a:xfrm rot="0">
              <a:off x="13024" y="456176"/>
              <a:ext cx="2272228" cy="456176"/>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Đề xuất CTO</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92056"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492056" y="4424761"/>
            <a:ext cx="7106119" cy="435134"/>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TÌNH HUỐNG HIỆN TẠI VÀ TÍNH CẤP BÁCH</a:t>
            </a:r>
          </a:p>
        </p:txBody>
      </p:sp>
      <p:sp>
        <p:nvSpPr>
          <p:cNvPr name="Freeform 6" id="6"/>
          <p:cNvSpPr/>
          <p:nvPr/>
        </p:nvSpPr>
        <p:spPr>
          <a:xfrm flipH="false" flipV="false" rot="-8687136">
            <a:off x="15580115" y="4542838"/>
            <a:ext cx="189150" cy="228643"/>
          </a:xfrm>
          <a:custGeom>
            <a:avLst/>
            <a:gdLst/>
            <a:ahLst/>
            <a:cxnLst/>
            <a:rect r="r" b="b" t="t" l="l"/>
            <a:pathLst>
              <a:path h="228643" w="189150">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0"/>
            <a:ext cx="6352295" cy="10287000"/>
            <a:chOff x="0" y="0"/>
            <a:chExt cx="984137" cy="1593725"/>
          </a:xfrm>
        </p:grpSpPr>
        <p:sp>
          <p:nvSpPr>
            <p:cNvPr name="Freeform 8" id="8"/>
            <p:cNvSpPr/>
            <p:nvPr/>
          </p:nvSpPr>
          <p:spPr>
            <a:xfrm flipH="false" flipV="false" rot="0">
              <a:off x="0" y="0"/>
              <a:ext cx="984137" cy="1593725"/>
            </a:xfrm>
            <a:custGeom>
              <a:avLst/>
              <a:gdLst/>
              <a:ahLst/>
              <a:cxnLst/>
              <a:rect r="r" b="b" t="t" l="l"/>
              <a:pathLst>
                <a:path h="1593725" w="984137">
                  <a:moveTo>
                    <a:pt x="0" y="0"/>
                  </a:moveTo>
                  <a:lnTo>
                    <a:pt x="984137" y="0"/>
                  </a:lnTo>
                  <a:lnTo>
                    <a:pt x="984137" y="1593725"/>
                  </a:lnTo>
                  <a:lnTo>
                    <a:pt x="0" y="1593725"/>
                  </a:lnTo>
                  <a:close/>
                </a:path>
              </a:pathLst>
            </a:custGeom>
            <a:blipFill>
              <a:blip r:embed="rId4"/>
              <a:stretch>
                <a:fillRect l="-4554" t="0" r="-4554" b="0"/>
              </a:stretch>
            </a:blipFill>
          </p:spPr>
        </p:sp>
      </p:grpSp>
      <p:grpSp>
        <p:nvGrpSpPr>
          <p:cNvPr name="Group 9" id="9"/>
          <p:cNvGrpSpPr/>
          <p:nvPr/>
        </p:nvGrpSpPr>
        <p:grpSpPr>
          <a:xfrm rot="0">
            <a:off x="16438046" y="129"/>
            <a:ext cx="1849954" cy="1848037"/>
            <a:chOff x="0" y="0"/>
            <a:chExt cx="2466605" cy="2464050"/>
          </a:xfrm>
        </p:grpSpPr>
        <p:grpSp>
          <p:nvGrpSpPr>
            <p:cNvPr name="Group 10" id="10"/>
            <p:cNvGrpSpPr/>
            <p:nvPr/>
          </p:nvGrpSpPr>
          <p:grpSpPr>
            <a:xfrm rot="0">
              <a:off x="0" y="0"/>
              <a:ext cx="2466605" cy="2464050"/>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02</a:t>
              </a:r>
            </a:p>
          </p:txBody>
        </p:sp>
      </p:grpSp>
      <p:sp>
        <p:nvSpPr>
          <p:cNvPr name="AutoShape 14" id="14"/>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Freeform 15" id="15"/>
          <p:cNvSpPr/>
          <p:nvPr/>
        </p:nvSpPr>
        <p:spPr>
          <a:xfrm flipH="false" flipV="false" rot="0">
            <a:off x="5177017" y="5870652"/>
            <a:ext cx="2350556" cy="457290"/>
          </a:xfrm>
          <a:custGeom>
            <a:avLst/>
            <a:gdLst/>
            <a:ahLst/>
            <a:cxnLst/>
            <a:rect r="r" b="b" t="t" l="l"/>
            <a:pathLst>
              <a:path h="457290" w="2350556">
                <a:moveTo>
                  <a:pt x="0" y="0"/>
                </a:moveTo>
                <a:lnTo>
                  <a:pt x="2350556" y="0"/>
                </a:lnTo>
                <a:lnTo>
                  <a:pt x="2350556" y="457290"/>
                </a:lnTo>
                <a:lnTo>
                  <a:pt x="0" y="457290"/>
                </a:lnTo>
                <a:lnTo>
                  <a:pt x="0" y="0"/>
                </a:lnTo>
                <a:close/>
              </a:path>
            </a:pathLst>
          </a:custGeom>
          <a:blipFill>
            <a:blip r:embed="rId5"/>
            <a:stretch>
              <a:fillRect l="0" t="0" r="0" b="0"/>
            </a:stretch>
          </a:blipFill>
        </p:spPr>
      </p:sp>
      <p:grpSp>
        <p:nvGrpSpPr>
          <p:cNvPr name="Group 16" id="16"/>
          <p:cNvGrpSpPr/>
          <p:nvPr/>
        </p:nvGrpSpPr>
        <p:grpSpPr>
          <a:xfrm rot="0">
            <a:off x="5262566" y="3959058"/>
            <a:ext cx="2152019" cy="2149322"/>
            <a:chOff x="0" y="0"/>
            <a:chExt cx="567580" cy="566868"/>
          </a:xfrm>
        </p:grpSpPr>
        <p:sp>
          <p:nvSpPr>
            <p:cNvPr name="Freeform 17" id="17"/>
            <p:cNvSpPr/>
            <p:nvPr/>
          </p:nvSpPr>
          <p:spPr>
            <a:xfrm flipH="false" flipV="false" rot="0">
              <a:off x="0" y="0"/>
              <a:ext cx="567580" cy="566868"/>
            </a:xfrm>
            <a:custGeom>
              <a:avLst/>
              <a:gdLst/>
              <a:ahLst/>
              <a:cxnLst/>
              <a:rect r="r" b="b" t="t" l="l"/>
              <a:pathLst>
                <a:path h="566868" w="567580">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28575"/>
              <a:ext cx="567580" cy="538293"/>
            </a:xfrm>
            <a:prstGeom prst="rect">
              <a:avLst/>
            </a:prstGeom>
          </p:spPr>
          <p:txBody>
            <a:bodyPr anchor="ctr" rtlCol="false" tIns="48445" lIns="48445" bIns="48445" rIns="48445"/>
            <a:lstStyle/>
            <a:p>
              <a:pPr algn="ctr" marL="0" indent="0" lvl="0">
                <a:lnSpc>
                  <a:spcPts val="2460"/>
                </a:lnSpc>
              </a:pPr>
            </a:p>
          </p:txBody>
        </p:sp>
      </p:grpSp>
      <p:sp>
        <p:nvSpPr>
          <p:cNvPr name="TextBox 19" id="19"/>
          <p:cNvSpPr txBox="true"/>
          <p:nvPr/>
        </p:nvSpPr>
        <p:spPr>
          <a:xfrm rot="0">
            <a:off x="5602320" y="4444821"/>
            <a:ext cx="1499950" cy="486039"/>
          </a:xfrm>
          <a:prstGeom prst="rect">
            <a:avLst/>
          </a:prstGeom>
        </p:spPr>
        <p:txBody>
          <a:bodyPr anchor="t" rtlCol="false" tIns="0" lIns="0" bIns="0" rIns="0">
            <a:spAutoFit/>
          </a:bodyPr>
          <a:lstStyle/>
          <a:p>
            <a:pPr algn="ctr" marL="0" indent="0" lvl="0">
              <a:lnSpc>
                <a:spcPts val="3674"/>
              </a:lnSpc>
            </a:pPr>
            <a:r>
              <a:rPr lang="en-US" b="true" sz="3711" spc="-111">
                <a:solidFill>
                  <a:srgbClr val="FFFFFF"/>
                </a:solidFill>
                <a:latin typeface="Bricolage Grotesque Bold"/>
                <a:ea typeface="Bricolage Grotesque Bold"/>
                <a:cs typeface="Bricolage Grotesque Bold"/>
                <a:sym typeface="Bricolage Grotesque Bold"/>
              </a:rPr>
              <a:t>2024</a:t>
            </a:r>
          </a:p>
        </p:txBody>
      </p:sp>
      <p:sp>
        <p:nvSpPr>
          <p:cNvPr name="TextBox 20" id="20"/>
          <p:cNvSpPr txBox="true"/>
          <p:nvPr/>
        </p:nvSpPr>
        <p:spPr>
          <a:xfrm rot="0">
            <a:off x="5746312" y="5265184"/>
            <a:ext cx="1211966" cy="426107"/>
          </a:xfrm>
          <a:prstGeom prst="rect">
            <a:avLst/>
          </a:prstGeom>
        </p:spPr>
        <p:txBody>
          <a:bodyPr anchor="t" rtlCol="false" tIns="0" lIns="0" bIns="0" rIns="0">
            <a:spAutoFit/>
          </a:bodyPr>
          <a:lstStyle/>
          <a:p>
            <a:pPr algn="ctr" marL="0" indent="0" lvl="0">
              <a:lnSpc>
                <a:spcPts val="1713"/>
              </a:lnSpc>
            </a:pPr>
            <a:r>
              <a:rPr lang="en-US" sz="1224" spc="-30">
                <a:solidFill>
                  <a:srgbClr val="FFFFFF"/>
                </a:solidFill>
                <a:latin typeface="Poppins"/>
                <a:ea typeface="Poppins"/>
                <a:cs typeface="Poppins"/>
                <a:sym typeface="Poppins"/>
              </a:rPr>
              <a:t>DEPRECATION TIMELINE</a:t>
            </a:r>
          </a:p>
        </p:txBody>
      </p:sp>
      <p:sp>
        <p:nvSpPr>
          <p:cNvPr name="TextBox 21" id="21"/>
          <p:cNvSpPr txBox="true"/>
          <p:nvPr/>
        </p:nvSpPr>
        <p:spPr>
          <a:xfrm rot="0">
            <a:off x="8720122" y="1406218"/>
            <a:ext cx="5780387" cy="2489701"/>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Executive Summary</a:t>
            </a:r>
          </a:p>
        </p:txBody>
      </p:sp>
      <p:sp>
        <p:nvSpPr>
          <p:cNvPr name="TextBox 22" id="22"/>
          <p:cNvSpPr txBox="true"/>
          <p:nvPr/>
        </p:nvSpPr>
        <p:spPr>
          <a:xfrm rot="0">
            <a:off x="8492056" y="6030625"/>
            <a:ext cx="7325824" cy="944585"/>
          </a:xfrm>
          <a:prstGeom prst="rect">
            <a:avLst/>
          </a:prstGeom>
        </p:spPr>
        <p:txBody>
          <a:bodyPr anchor="t" rtlCol="false" tIns="0" lIns="0" bIns="0" rIns="0">
            <a:spAutoFit/>
          </a:bodyPr>
          <a:lstStyle/>
          <a:p>
            <a:pPr algn="just" marL="0" indent="0" lvl="0">
              <a:lnSpc>
                <a:spcPts val="2536"/>
              </a:lnSpc>
            </a:pPr>
            <a:r>
              <a:rPr lang="en-US" sz="1811" spc="-5">
                <a:solidFill>
                  <a:srgbClr val="3A58E4"/>
                </a:solidFill>
                <a:latin typeface="Poppins"/>
                <a:ea typeface="Poppins"/>
                <a:cs typeface="Poppins"/>
                <a:sym typeface="Poppins"/>
              </a:rPr>
              <a:t>NGINX OSS Ingress Controller sẽ bị deprecation vào cuối năm nay, tạo ra rủi ro nghiêm trọng về mất hỗ trợ chính thức và ảnh hưởng trực tiếp tới hệ thống sản xuất của chúng ta.</a:t>
            </a:r>
          </a:p>
        </p:txBody>
      </p:sp>
      <p:sp>
        <p:nvSpPr>
          <p:cNvPr name="TextBox 23" id="23"/>
          <p:cNvSpPr txBox="true"/>
          <p:nvPr/>
        </p:nvSpPr>
        <p:spPr>
          <a:xfrm rot="0">
            <a:off x="8274055" y="7517291"/>
            <a:ext cx="5481943" cy="1573235"/>
          </a:xfrm>
          <a:prstGeom prst="rect">
            <a:avLst/>
          </a:prstGeom>
        </p:spPr>
        <p:txBody>
          <a:bodyPr anchor="t" rtlCol="false" tIns="0" lIns="0" bIns="0" rIns="0">
            <a:spAutoFit/>
          </a:bodyPr>
          <a:lstStyle/>
          <a:p>
            <a:pPr algn="just" marL="0" indent="0" lvl="0">
              <a:lnSpc>
                <a:spcPts val="2536"/>
              </a:lnSpc>
            </a:pPr>
            <a:r>
              <a:rPr lang="en-US" sz="1811" spc="-5">
                <a:solidFill>
                  <a:srgbClr val="3A58E4"/>
                </a:solidFill>
                <a:latin typeface="Poppins"/>
                <a:ea typeface="Poppins"/>
                <a:cs typeface="Poppins"/>
                <a:sym typeface="Poppins"/>
              </a:rPr>
              <a:t>NGINX OSS Ingress Controller sắp bị deprecation</a:t>
            </a:r>
          </a:p>
          <a:p>
            <a:pPr algn="just" marL="0" indent="0" lvl="0">
              <a:lnSpc>
                <a:spcPts val="2536"/>
              </a:lnSpc>
            </a:pPr>
            <a:r>
              <a:rPr lang="en-US" sz="1811" spc="-5">
                <a:solidFill>
                  <a:srgbClr val="3A58E4"/>
                </a:solidFill>
                <a:latin typeface="Poppins"/>
                <a:ea typeface="Poppins"/>
                <a:cs typeface="Poppins"/>
                <a:sym typeface="Poppins"/>
              </a:rPr>
              <a:t>Rủi ro mất hỗ trợ, ảnh hưởng hệ thống production</a:t>
            </a:r>
          </a:p>
          <a:p>
            <a:pPr algn="just" marL="0" indent="0" lvl="0">
              <a:lnSpc>
                <a:spcPts val="2536"/>
              </a:lnSpc>
            </a:pPr>
            <a:r>
              <a:rPr lang="en-US" sz="1811" spc="-5">
                <a:solidFill>
                  <a:srgbClr val="3A58E4"/>
                </a:solidFill>
                <a:latin typeface="Poppins"/>
                <a:ea typeface="Poppins"/>
                <a:cs typeface="Poppins"/>
                <a:sym typeface="Poppins"/>
              </a:rPr>
              <a:t>Mục tiêu: Chọn giải pháp thay thế tối ưu</a:t>
            </a:r>
          </a:p>
          <a:p>
            <a:pPr algn="just" marL="0" indent="0" lvl="0">
              <a:lnSpc>
                <a:spcPts val="2536"/>
              </a:lnSpc>
            </a:pPr>
            <a:r>
              <a:rPr lang="en-US" sz="1811" spc="-5">
                <a:solidFill>
                  <a:srgbClr val="3A58E4"/>
                </a:solidFill>
                <a:latin typeface="Poppins"/>
                <a:ea typeface="Poppins"/>
                <a:cs typeface="Poppins"/>
                <a:sym typeface="Poppins"/>
              </a:rPr>
              <a:t>Đảm bảo ổn định, bảo mật, giảm rủi ro vận hành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1206794"/>
            <a:ext cx="5217559" cy="2521349"/>
          </a:xfrm>
          <a:prstGeom prst="rect">
            <a:avLst/>
          </a:prstGeom>
        </p:spPr>
        <p:txBody>
          <a:bodyPr anchor="t" rtlCol="false" tIns="0" lIns="0" bIns="0" rIns="0">
            <a:spAutoFit/>
          </a:bodyPr>
          <a:lstStyle/>
          <a:p>
            <a:pPr algn="l" marL="0" indent="0" lvl="0">
              <a:lnSpc>
                <a:spcPts val="6580"/>
              </a:lnSpc>
            </a:pPr>
            <a:r>
              <a:rPr lang="en-US" sz="6714" spc="-4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Rủi ro nếu không hành động</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141571"/>
              <a:ext cx="10820400" cy="364091"/>
            </a:xfrm>
            <a:prstGeom prst="rect">
              <a:avLst/>
            </a:prstGeom>
          </p:spPr>
          <p:txBody>
            <a:bodyPr anchor="t" rtlCol="false" tIns="0" lIns="0" bIns="0" rIns="0">
              <a:spAutoFit/>
            </a:bodyPr>
            <a:lstStyle/>
            <a:p>
              <a:pPr algn="l" marL="0" indent="0" lvl="0">
                <a:lnSpc>
                  <a:spcPts val="2273"/>
                </a:lnSpc>
              </a:pPr>
              <a:r>
                <a:rPr lang="en-US" b="true" sz="1624" spc="-40">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TÁC ĐỘNG CỦA VIỆC NGINX OSS INGRESS CONTROLLER BỊ DEPRECATION</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314842"/>
            <a:ext cx="1849954" cy="1533325"/>
            <a:chOff x="0" y="0"/>
            <a:chExt cx="2466605" cy="2044433"/>
          </a:xfrm>
        </p:grpSpPr>
        <p:grpSp>
          <p:nvGrpSpPr>
            <p:cNvPr name="Group 10" id="10"/>
            <p:cNvGrpSpPr/>
            <p:nvPr/>
          </p:nvGrpSpPr>
          <p:grpSpPr>
            <a:xfrm rot="0">
              <a:off x="0" y="0"/>
              <a:ext cx="2466605" cy="2044433"/>
              <a:chOff x="0" y="0"/>
              <a:chExt cx="787566" cy="652770"/>
            </a:xfrm>
          </p:grpSpPr>
          <p:sp>
            <p:nvSpPr>
              <p:cNvPr name="Freeform 11" id="11"/>
              <p:cNvSpPr/>
              <p:nvPr/>
            </p:nvSpPr>
            <p:spPr>
              <a:xfrm flipH="false" flipV="false" rot="0">
                <a:off x="0" y="0"/>
                <a:ext cx="787566" cy="652770"/>
              </a:xfrm>
              <a:custGeom>
                <a:avLst/>
                <a:gdLst/>
                <a:ahLst/>
                <a:cxnLst/>
                <a:rect r="r" b="b" t="t" l="l"/>
                <a:pathLst>
                  <a:path h="652770" w="787566">
                    <a:moveTo>
                      <a:pt x="0" y="0"/>
                    </a:moveTo>
                    <a:lnTo>
                      <a:pt x="787566" y="0"/>
                    </a:lnTo>
                    <a:lnTo>
                      <a:pt x="787566" y="652770"/>
                    </a:lnTo>
                    <a:lnTo>
                      <a:pt x="0" y="65277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6908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55949"/>
              <a:ext cx="1828278" cy="818260"/>
            </a:xfrm>
            <a:prstGeom prst="rect">
              <a:avLst/>
            </a:prstGeom>
          </p:spPr>
          <p:txBody>
            <a:bodyPr anchor="t" rtlCol="false" tIns="0" lIns="0" bIns="0" rIns="0">
              <a:spAutoFit/>
            </a:bodyPr>
            <a:lstStyle/>
            <a:p>
              <a:pPr algn="ctr" marL="0" indent="0" lvl="0">
                <a:lnSpc>
                  <a:spcPts val="4403"/>
                </a:lnSpc>
              </a:pPr>
              <a:r>
                <a:rPr lang="en-US" sz="4493" spc="-287">
                  <a:solidFill>
                    <a:srgbClr val="FFFFFF"/>
                  </a:solidFill>
                  <a:latin typeface="Bricolage Grotesque"/>
                  <a:ea typeface="Bricolage Grotesque"/>
                  <a:cs typeface="Bricolage Grotesque"/>
                  <a:sym typeface="Bricolage Grotesque"/>
                </a:rPr>
                <a:t>03</a:t>
              </a:r>
            </a:p>
          </p:txBody>
        </p:sp>
      </p:grpSp>
      <p:sp>
        <p:nvSpPr>
          <p:cNvPr name="Freeform 14" id="14"/>
          <p:cNvSpPr/>
          <p:nvPr/>
        </p:nvSpPr>
        <p:spPr>
          <a:xfrm flipH="false" flipV="false" rot="0">
            <a:off x="10386131" y="2422290"/>
            <a:ext cx="6052493" cy="6678613"/>
          </a:xfrm>
          <a:custGeom>
            <a:avLst/>
            <a:gdLst/>
            <a:ahLst/>
            <a:cxnLst/>
            <a:rect r="r" b="b" t="t" l="l"/>
            <a:pathLst>
              <a:path h="6678613" w="6052493">
                <a:moveTo>
                  <a:pt x="0" y="0"/>
                </a:moveTo>
                <a:lnTo>
                  <a:pt x="6052493" y="0"/>
                </a:lnTo>
                <a:lnTo>
                  <a:pt x="6052493" y="6678613"/>
                </a:lnTo>
                <a:lnTo>
                  <a:pt x="0" y="6678613"/>
                </a:lnTo>
                <a:lnTo>
                  <a:pt x="0" y="0"/>
                </a:lnTo>
                <a:close/>
              </a:path>
            </a:pathLst>
          </a:custGeom>
          <a:blipFill>
            <a:blip r:embed="rId4"/>
            <a:stretch>
              <a:fillRect l="0" t="0" r="0" b="0"/>
            </a:stretch>
          </a:blipFill>
        </p:spPr>
      </p:sp>
      <p:sp>
        <p:nvSpPr>
          <p:cNvPr name="TextBox 15" id="15"/>
          <p:cNvSpPr txBox="true"/>
          <p:nvPr/>
        </p:nvSpPr>
        <p:spPr>
          <a:xfrm rot="0">
            <a:off x="1870201" y="5745389"/>
            <a:ext cx="7273799" cy="271397"/>
          </a:xfrm>
          <a:prstGeom prst="rect">
            <a:avLst/>
          </a:prstGeom>
        </p:spPr>
        <p:txBody>
          <a:bodyPr anchor="t" rtlCol="false" tIns="0" lIns="0" bIns="0" rIns="0">
            <a:spAutoFit/>
          </a:bodyPr>
          <a:lstStyle/>
          <a:p>
            <a:pPr algn="just" marL="0" indent="0" lvl="0">
              <a:lnSpc>
                <a:spcPts val="2175"/>
              </a:lnSpc>
            </a:pPr>
            <a:r>
              <a:rPr lang="en-US" sz="1553" spc="-38">
                <a:solidFill>
                  <a:srgbClr val="3A58E4"/>
                </a:solidFill>
                <a:latin typeface="Poppins"/>
                <a:ea typeface="Poppins"/>
                <a:cs typeface="Poppins"/>
                <a:sym typeface="Poppins"/>
              </a:rPr>
              <a:t>Mất hỗ trợ chính thức, không có bản vá bảo mật, nguy cơ an ninh cao.</a:t>
            </a:r>
          </a:p>
        </p:txBody>
      </p:sp>
      <p:sp>
        <p:nvSpPr>
          <p:cNvPr name="TextBox 16" id="16"/>
          <p:cNvSpPr txBox="true"/>
          <p:nvPr/>
        </p:nvSpPr>
        <p:spPr>
          <a:xfrm rot="0">
            <a:off x="1870201" y="6736681"/>
            <a:ext cx="7273799" cy="271397"/>
          </a:xfrm>
          <a:prstGeom prst="rect">
            <a:avLst/>
          </a:prstGeom>
        </p:spPr>
        <p:txBody>
          <a:bodyPr anchor="t" rtlCol="false" tIns="0" lIns="0" bIns="0" rIns="0">
            <a:spAutoFit/>
          </a:bodyPr>
          <a:lstStyle/>
          <a:p>
            <a:pPr algn="just" marL="0" indent="0" lvl="0">
              <a:lnSpc>
                <a:spcPts val="2175"/>
              </a:lnSpc>
            </a:pPr>
            <a:r>
              <a:rPr lang="en-US" sz="1553" spc="-38">
                <a:solidFill>
                  <a:srgbClr val="3A58E4"/>
                </a:solidFill>
                <a:latin typeface="Poppins"/>
                <a:ea typeface="Poppins"/>
                <a:cs typeface="Poppins"/>
                <a:sym typeface="Poppins"/>
              </a:rPr>
              <a:t>Tăng downtime, ảnh hưởng trực tiếp tới hoạt động kinh doanh và doanh thu.</a:t>
            </a:r>
          </a:p>
        </p:txBody>
      </p:sp>
      <p:sp>
        <p:nvSpPr>
          <p:cNvPr name="TextBox 17" id="17"/>
          <p:cNvSpPr txBox="true"/>
          <p:nvPr/>
        </p:nvSpPr>
        <p:spPr>
          <a:xfrm rot="0">
            <a:off x="1870201" y="7727972"/>
            <a:ext cx="7273799" cy="271397"/>
          </a:xfrm>
          <a:prstGeom prst="rect">
            <a:avLst/>
          </a:prstGeom>
        </p:spPr>
        <p:txBody>
          <a:bodyPr anchor="t" rtlCol="false" tIns="0" lIns="0" bIns="0" rIns="0">
            <a:spAutoFit/>
          </a:bodyPr>
          <a:lstStyle/>
          <a:p>
            <a:pPr algn="just" marL="0" indent="0" lvl="0">
              <a:lnSpc>
                <a:spcPts val="2175"/>
              </a:lnSpc>
            </a:pPr>
            <a:r>
              <a:rPr lang="en-US" sz="1553" spc="-38">
                <a:solidFill>
                  <a:srgbClr val="3A58E4"/>
                </a:solidFill>
                <a:latin typeface="Poppins"/>
                <a:ea typeface="Poppins"/>
                <a:cs typeface="Poppins"/>
                <a:sym typeface="Poppins"/>
              </a:rPr>
              <a:t>Chi phí vận hành tăng do phải tự duy trì và xử lý sự cố nội bộ.</a:t>
            </a:r>
          </a:p>
        </p:txBody>
      </p:sp>
      <p:sp>
        <p:nvSpPr>
          <p:cNvPr name="TextBox 18" id="18"/>
          <p:cNvSpPr txBox="true"/>
          <p:nvPr/>
        </p:nvSpPr>
        <p:spPr>
          <a:xfrm rot="0">
            <a:off x="1870201" y="8719264"/>
            <a:ext cx="7273799" cy="271397"/>
          </a:xfrm>
          <a:prstGeom prst="rect">
            <a:avLst/>
          </a:prstGeom>
        </p:spPr>
        <p:txBody>
          <a:bodyPr anchor="t" rtlCol="false" tIns="0" lIns="0" bIns="0" rIns="0">
            <a:spAutoFit/>
          </a:bodyPr>
          <a:lstStyle/>
          <a:p>
            <a:pPr algn="just" marL="0" indent="0" lvl="0">
              <a:lnSpc>
                <a:spcPts val="2175"/>
              </a:lnSpc>
            </a:pPr>
            <a:r>
              <a:rPr lang="en-US" sz="1553" spc="-38">
                <a:solidFill>
                  <a:srgbClr val="3A58E4"/>
                </a:solidFill>
                <a:latin typeface="Poppins"/>
                <a:ea typeface="Poppins"/>
                <a:cs typeface="Poppins"/>
                <a:sym typeface="Poppins"/>
              </a:rPr>
              <a:t>Mất cơ hội tối ưu hiệu năng và mở rộng quy mô trong tương lai.</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269070"/>
            <a:ext cx="1849954" cy="1579096"/>
            <a:chOff x="0" y="0"/>
            <a:chExt cx="2466605" cy="2105462"/>
          </a:xfrm>
        </p:grpSpPr>
        <p:grpSp>
          <p:nvGrpSpPr>
            <p:cNvPr name="Group 3" id="3"/>
            <p:cNvGrpSpPr/>
            <p:nvPr/>
          </p:nvGrpSpPr>
          <p:grpSpPr>
            <a:xfrm rot="0">
              <a:off x="0" y="0"/>
              <a:ext cx="2466605" cy="2105462"/>
              <a:chOff x="0" y="0"/>
              <a:chExt cx="787566" cy="672256"/>
            </a:xfrm>
          </p:grpSpPr>
          <p:sp>
            <p:nvSpPr>
              <p:cNvPr name="Freeform 4" id="4"/>
              <p:cNvSpPr/>
              <p:nvPr/>
            </p:nvSpPr>
            <p:spPr>
              <a:xfrm flipH="false" flipV="false" rot="0">
                <a:off x="0" y="0"/>
                <a:ext cx="787566" cy="672256"/>
              </a:xfrm>
              <a:custGeom>
                <a:avLst/>
                <a:gdLst/>
                <a:ahLst/>
                <a:cxnLst/>
                <a:rect r="r" b="b" t="t" l="l"/>
                <a:pathLst>
                  <a:path h="672256" w="787566">
                    <a:moveTo>
                      <a:pt x="0" y="0"/>
                    </a:moveTo>
                    <a:lnTo>
                      <a:pt x="787566" y="0"/>
                    </a:lnTo>
                    <a:lnTo>
                      <a:pt x="787566" y="672256"/>
                    </a:lnTo>
                    <a:lnTo>
                      <a:pt x="0" y="672256"/>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1035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65474"/>
              <a:ext cx="1828278" cy="869764"/>
            </a:xfrm>
            <a:prstGeom prst="rect">
              <a:avLst/>
            </a:prstGeom>
          </p:spPr>
          <p:txBody>
            <a:bodyPr anchor="t" rtlCol="false" tIns="0" lIns="0" bIns="0" rIns="0">
              <a:spAutoFit/>
            </a:bodyPr>
            <a:lstStyle/>
            <a:p>
              <a:pPr algn="ctr" marL="0" indent="0" lvl="0">
                <a:lnSpc>
                  <a:spcPts val="4672"/>
                </a:lnSpc>
              </a:pPr>
              <a:r>
                <a:rPr lang="en-US" sz="4767" spc="-305">
                  <a:solidFill>
                    <a:srgbClr val="FFFFFF"/>
                  </a:solidFill>
                  <a:latin typeface="Bricolage Grotesque"/>
                  <a:ea typeface="Bricolage Grotesque"/>
                  <a:cs typeface="Bricolage Grotesque"/>
                  <a:sym typeface="Bricolage Grotesque"/>
                </a:rPr>
                <a:t>04</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110007"/>
              <a:ext cx="9378912" cy="395655"/>
            </a:xfrm>
            <a:prstGeom prst="rect">
              <a:avLst/>
            </a:prstGeom>
          </p:spPr>
          <p:txBody>
            <a:bodyPr anchor="t" rtlCol="false" tIns="0" lIns="0" bIns="0" rIns="0">
              <a:spAutoFit/>
            </a:bodyPr>
            <a:lstStyle/>
            <a:p>
              <a:pPr algn="l" marL="0" indent="0" lvl="0">
                <a:lnSpc>
                  <a:spcPts val="2412"/>
                </a:lnSpc>
              </a:pPr>
              <a:r>
                <a:rPr lang="en-US" b="true" sz="1723" spc="-43">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TỔNG QUAN CÁC GIẢI PHÁP THAY THẾ NGINX INGRESS CONTROLLER</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6289836"/>
            <a:ext cx="1984104" cy="270155"/>
          </a:xfrm>
          <a:prstGeom prst="rect">
            <a:avLst/>
          </a:prstGeom>
        </p:spPr>
        <p:txBody>
          <a:bodyPr anchor="t" rtlCol="false" tIns="0" lIns="0" bIns="0" rIns="0">
            <a:spAutoFit/>
          </a:bodyPr>
          <a:lstStyle/>
          <a:p>
            <a:pPr algn="ctr" marL="0" indent="0" lvl="0">
              <a:lnSpc>
                <a:spcPts val="2107"/>
              </a:lnSpc>
            </a:pPr>
            <a:r>
              <a:rPr lang="en-US" b="true" sz="1633" spc="-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NGINX OSS</a:t>
            </a:r>
          </a:p>
        </p:txBody>
      </p:sp>
      <p:sp>
        <p:nvSpPr>
          <p:cNvPr name="TextBox 23" id="23"/>
          <p:cNvSpPr txBox="true"/>
          <p:nvPr/>
        </p:nvSpPr>
        <p:spPr>
          <a:xfrm rot="0">
            <a:off x="2124549" y="7203582"/>
            <a:ext cx="2425450" cy="404746"/>
          </a:xfrm>
          <a:prstGeom prst="rect">
            <a:avLst/>
          </a:prstGeom>
        </p:spPr>
        <p:txBody>
          <a:bodyPr anchor="t" rtlCol="false" tIns="0" lIns="0" bIns="0" rIns="0">
            <a:spAutoFit/>
          </a:bodyPr>
          <a:lstStyle/>
          <a:p>
            <a:pPr algn="ctr" marL="0" indent="0" lvl="0">
              <a:lnSpc>
                <a:spcPts val="1619"/>
              </a:lnSpc>
            </a:pPr>
            <a:r>
              <a:rPr lang="en-US" sz="1255" spc="-3">
                <a:solidFill>
                  <a:srgbClr val="3A58E4"/>
                </a:solidFill>
                <a:latin typeface="Poppins"/>
                <a:ea typeface="Poppins"/>
                <a:cs typeface="Poppins"/>
                <a:sym typeface="Poppins"/>
              </a:rPr>
              <a:t>Rủi ro cao do deprecation, mất hỗ trợ chính thức cuối năm</a:t>
            </a:r>
          </a:p>
        </p:txBody>
      </p:sp>
      <p:sp>
        <p:nvSpPr>
          <p:cNvPr name="TextBox 24" id="24"/>
          <p:cNvSpPr txBox="true"/>
          <p:nvPr/>
        </p:nvSpPr>
        <p:spPr>
          <a:xfrm rot="0">
            <a:off x="6215753" y="6289836"/>
            <a:ext cx="1984104" cy="270155"/>
          </a:xfrm>
          <a:prstGeom prst="rect">
            <a:avLst/>
          </a:prstGeom>
        </p:spPr>
        <p:txBody>
          <a:bodyPr anchor="t" rtlCol="false" tIns="0" lIns="0" bIns="0" rIns="0">
            <a:spAutoFit/>
          </a:bodyPr>
          <a:lstStyle/>
          <a:p>
            <a:pPr algn="ctr" marL="0" indent="0" lvl="0">
              <a:lnSpc>
                <a:spcPts val="2107"/>
              </a:lnSpc>
            </a:pPr>
            <a:r>
              <a:rPr lang="en-US" b="true" sz="1633" spc="-4">
                <a:solidFill>
                  <a:srgbClr val="FFFFFF"/>
                </a:solidFill>
                <a:latin typeface="Poppins Bold"/>
                <a:ea typeface="Poppins Bold"/>
                <a:cs typeface="Poppins Bold"/>
                <a:sym typeface="Poppins Bold"/>
              </a:rPr>
              <a:t>F5 NGINX PLUS</a:t>
            </a:r>
          </a:p>
        </p:txBody>
      </p:sp>
      <p:sp>
        <p:nvSpPr>
          <p:cNvPr name="TextBox 25" id="25"/>
          <p:cNvSpPr txBox="true"/>
          <p:nvPr/>
        </p:nvSpPr>
        <p:spPr>
          <a:xfrm rot="0">
            <a:off x="5995080" y="7203582"/>
            <a:ext cx="2425450" cy="404746"/>
          </a:xfrm>
          <a:prstGeom prst="rect">
            <a:avLst/>
          </a:prstGeom>
        </p:spPr>
        <p:txBody>
          <a:bodyPr anchor="t" rtlCol="false" tIns="0" lIns="0" bIns="0" rIns="0">
            <a:spAutoFit/>
          </a:bodyPr>
          <a:lstStyle/>
          <a:p>
            <a:pPr algn="ctr" marL="0" indent="0" lvl="0">
              <a:lnSpc>
                <a:spcPts val="1619"/>
              </a:lnSpc>
            </a:pPr>
            <a:r>
              <a:rPr lang="en-US" sz="1255" spc="-3">
                <a:solidFill>
                  <a:srgbClr val="FFFFFF"/>
                </a:solidFill>
                <a:latin typeface="Poppins"/>
                <a:ea typeface="Poppins"/>
                <a:cs typeface="Poppins"/>
                <a:sym typeface="Poppins"/>
              </a:rPr>
              <a:t>License chính thức, hỗ trợ 24/7, tính năng enterprise</a:t>
            </a:r>
          </a:p>
        </p:txBody>
      </p:sp>
      <p:sp>
        <p:nvSpPr>
          <p:cNvPr name="TextBox 26" id="26"/>
          <p:cNvSpPr txBox="true"/>
          <p:nvPr/>
        </p:nvSpPr>
        <p:spPr>
          <a:xfrm rot="0">
            <a:off x="9901910" y="6289836"/>
            <a:ext cx="2354710" cy="270155"/>
          </a:xfrm>
          <a:prstGeom prst="rect">
            <a:avLst/>
          </a:prstGeom>
        </p:spPr>
        <p:txBody>
          <a:bodyPr anchor="t" rtlCol="false" tIns="0" lIns="0" bIns="0" rIns="0">
            <a:spAutoFit/>
          </a:bodyPr>
          <a:lstStyle/>
          <a:p>
            <a:pPr algn="ctr" marL="0" indent="0" lvl="0">
              <a:lnSpc>
                <a:spcPts val="2107"/>
              </a:lnSpc>
            </a:pPr>
            <a:r>
              <a:rPr lang="en-US" b="true" sz="1633" spc="-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HA PROXY</a:t>
            </a:r>
          </a:p>
        </p:txBody>
      </p:sp>
      <p:sp>
        <p:nvSpPr>
          <p:cNvPr name="TextBox 27" id="27"/>
          <p:cNvSpPr txBox="true"/>
          <p:nvPr/>
        </p:nvSpPr>
        <p:spPr>
          <a:xfrm rot="0">
            <a:off x="9866540" y="7203582"/>
            <a:ext cx="2425450" cy="404746"/>
          </a:xfrm>
          <a:prstGeom prst="rect">
            <a:avLst/>
          </a:prstGeom>
        </p:spPr>
        <p:txBody>
          <a:bodyPr anchor="t" rtlCol="false" tIns="0" lIns="0" bIns="0" rIns="0">
            <a:spAutoFit/>
          </a:bodyPr>
          <a:lstStyle/>
          <a:p>
            <a:pPr algn="ctr" marL="0" indent="0" lvl="0">
              <a:lnSpc>
                <a:spcPts val="1619"/>
              </a:lnSpc>
            </a:pPr>
            <a:r>
              <a:rPr lang="en-US" sz="1255" spc="-3">
                <a:solidFill>
                  <a:srgbClr val="3A58E4"/>
                </a:solidFill>
                <a:latin typeface="Poppins"/>
                <a:ea typeface="Poppins"/>
                <a:cs typeface="Poppins"/>
                <a:sym typeface="Poppins"/>
              </a:rPr>
              <a:t>Open source, hiệu năng tốt, chi phí thấp, cần migration</a:t>
            </a:r>
          </a:p>
        </p:txBody>
      </p:sp>
      <p:sp>
        <p:nvSpPr>
          <p:cNvPr name="TextBox 28" id="28"/>
          <p:cNvSpPr txBox="true"/>
          <p:nvPr/>
        </p:nvSpPr>
        <p:spPr>
          <a:xfrm rot="0">
            <a:off x="13958674" y="6289836"/>
            <a:ext cx="1984104" cy="270155"/>
          </a:xfrm>
          <a:prstGeom prst="rect">
            <a:avLst/>
          </a:prstGeom>
        </p:spPr>
        <p:txBody>
          <a:bodyPr anchor="t" rtlCol="false" tIns="0" lIns="0" bIns="0" rIns="0">
            <a:spAutoFit/>
          </a:bodyPr>
          <a:lstStyle/>
          <a:p>
            <a:pPr algn="ctr" marL="0" indent="0" lvl="0">
              <a:lnSpc>
                <a:spcPts val="2107"/>
              </a:lnSpc>
            </a:pPr>
            <a:r>
              <a:rPr lang="en-US" b="true" sz="1633" spc="-4">
                <a:solidFill>
                  <a:srgbClr val="FFFFFF"/>
                </a:solidFill>
                <a:latin typeface="Poppins Bold"/>
                <a:ea typeface="Poppins Bold"/>
                <a:cs typeface="Poppins Bold"/>
                <a:sym typeface="Poppins Bold"/>
              </a:rPr>
              <a:t>ENVOY/TRAEFIK</a:t>
            </a:r>
          </a:p>
        </p:txBody>
      </p:sp>
      <p:sp>
        <p:nvSpPr>
          <p:cNvPr name="TextBox 29" id="29"/>
          <p:cNvSpPr txBox="true"/>
          <p:nvPr/>
        </p:nvSpPr>
        <p:spPr>
          <a:xfrm rot="0">
            <a:off x="13738001" y="7203582"/>
            <a:ext cx="2425450" cy="404746"/>
          </a:xfrm>
          <a:prstGeom prst="rect">
            <a:avLst/>
          </a:prstGeom>
        </p:spPr>
        <p:txBody>
          <a:bodyPr anchor="t" rtlCol="false" tIns="0" lIns="0" bIns="0" rIns="0">
            <a:spAutoFit/>
          </a:bodyPr>
          <a:lstStyle/>
          <a:p>
            <a:pPr algn="ctr" marL="0" indent="0" lvl="0">
              <a:lnSpc>
                <a:spcPts val="1619"/>
              </a:lnSpc>
            </a:pPr>
            <a:r>
              <a:rPr lang="en-US" sz="1255" spc="-3">
                <a:solidFill>
                  <a:srgbClr val="FFFFFF"/>
                </a:solidFill>
                <a:latin typeface="Poppins"/>
                <a:ea typeface="Poppins"/>
                <a:cs typeface="Poppins"/>
                <a:sym typeface="Poppins"/>
              </a:rPr>
              <a:t>Cloud-native, hiện đại, phức tạp hơn, cần expertise cao</a:t>
            </a:r>
          </a:p>
        </p:txBody>
      </p:sp>
      <p:grpSp>
        <p:nvGrpSpPr>
          <p:cNvPr name="Group 30" id="30"/>
          <p:cNvGrpSpPr/>
          <p:nvPr/>
        </p:nvGrpSpPr>
        <p:grpSpPr>
          <a:xfrm rot="0">
            <a:off x="4176506" y="5023869"/>
            <a:ext cx="746986" cy="649157"/>
            <a:chOff x="0" y="0"/>
            <a:chExt cx="995981" cy="865543"/>
          </a:xfrm>
        </p:grpSpPr>
        <p:grpSp>
          <p:nvGrpSpPr>
            <p:cNvPr name="Group 31" id="31"/>
            <p:cNvGrpSpPr/>
            <p:nvPr/>
          </p:nvGrpSpPr>
          <p:grpSpPr>
            <a:xfrm rot="0">
              <a:off x="0" y="0"/>
              <a:ext cx="995981" cy="865543"/>
              <a:chOff x="0" y="0"/>
              <a:chExt cx="812800" cy="706352"/>
            </a:xfrm>
          </p:grpSpPr>
          <p:sp>
            <p:nvSpPr>
              <p:cNvPr name="Freeform 32" id="32"/>
              <p:cNvSpPr/>
              <p:nvPr/>
            </p:nvSpPr>
            <p:spPr>
              <a:xfrm flipH="false" flipV="false" rot="0">
                <a:off x="0" y="0"/>
                <a:ext cx="812800" cy="706352"/>
              </a:xfrm>
              <a:custGeom>
                <a:avLst/>
                <a:gdLst/>
                <a:ahLst/>
                <a:cxnLst/>
                <a:rect r="r" b="b" t="t" l="l"/>
                <a:pathLst>
                  <a:path h="706352" w="812800">
                    <a:moveTo>
                      <a:pt x="406400" y="0"/>
                    </a:moveTo>
                    <a:cubicBezTo>
                      <a:pt x="181951" y="0"/>
                      <a:pt x="0" y="158122"/>
                      <a:pt x="0" y="353176"/>
                    </a:cubicBezTo>
                    <a:cubicBezTo>
                      <a:pt x="0" y="548230"/>
                      <a:pt x="181951" y="706352"/>
                      <a:pt x="406400" y="706352"/>
                    </a:cubicBezTo>
                    <a:cubicBezTo>
                      <a:pt x="630849" y="706352"/>
                      <a:pt x="812800" y="548230"/>
                      <a:pt x="812800" y="353176"/>
                    </a:cubicBezTo>
                    <a:cubicBezTo>
                      <a:pt x="812800" y="158122"/>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28121"/>
                <a:ext cx="660400" cy="612011"/>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45086"/>
              <a:ext cx="644736" cy="346796"/>
            </a:xfrm>
            <a:prstGeom prst="rect">
              <a:avLst/>
            </a:prstGeom>
          </p:spPr>
          <p:txBody>
            <a:bodyPr anchor="t" rtlCol="false" tIns="0" lIns="0" bIns="0" rIns="0">
              <a:spAutoFit/>
            </a:bodyPr>
            <a:lstStyle/>
            <a:p>
              <a:pPr algn="ctr" marL="0" indent="0" lvl="0">
                <a:lnSpc>
                  <a:spcPts val="2088"/>
                </a:lnSpc>
              </a:pPr>
              <a:r>
                <a:rPr lang="en-US" sz="1619" spc="-4">
                  <a:solidFill>
                    <a:srgbClr val="FFFFFF"/>
                  </a:solidFill>
                  <a:latin typeface="Poppins"/>
                  <a:ea typeface="Poppins"/>
                  <a:cs typeface="Poppins"/>
                  <a:sym typeface="Poppins"/>
                </a:rPr>
                <a:t>01</a:t>
              </a:r>
            </a:p>
          </p:txBody>
        </p:sp>
      </p:grpSp>
      <p:grpSp>
        <p:nvGrpSpPr>
          <p:cNvPr name="Group 35" id="35"/>
          <p:cNvGrpSpPr/>
          <p:nvPr/>
        </p:nvGrpSpPr>
        <p:grpSpPr>
          <a:xfrm rot="0">
            <a:off x="8047037" y="5023869"/>
            <a:ext cx="746986" cy="649157"/>
            <a:chOff x="0" y="0"/>
            <a:chExt cx="995981" cy="865543"/>
          </a:xfrm>
        </p:grpSpPr>
        <p:grpSp>
          <p:nvGrpSpPr>
            <p:cNvPr name="Group 36" id="36"/>
            <p:cNvGrpSpPr/>
            <p:nvPr/>
          </p:nvGrpSpPr>
          <p:grpSpPr>
            <a:xfrm rot="0">
              <a:off x="0" y="0"/>
              <a:ext cx="995981" cy="865543"/>
              <a:chOff x="0" y="0"/>
              <a:chExt cx="812800" cy="706352"/>
            </a:xfrm>
          </p:grpSpPr>
          <p:sp>
            <p:nvSpPr>
              <p:cNvPr name="Freeform 37" id="37"/>
              <p:cNvSpPr/>
              <p:nvPr/>
            </p:nvSpPr>
            <p:spPr>
              <a:xfrm flipH="false" flipV="false" rot="0">
                <a:off x="0" y="0"/>
                <a:ext cx="812800" cy="706352"/>
              </a:xfrm>
              <a:custGeom>
                <a:avLst/>
                <a:gdLst/>
                <a:ahLst/>
                <a:cxnLst/>
                <a:rect r="r" b="b" t="t" l="l"/>
                <a:pathLst>
                  <a:path h="706352" w="812800">
                    <a:moveTo>
                      <a:pt x="406400" y="0"/>
                    </a:moveTo>
                    <a:cubicBezTo>
                      <a:pt x="181951" y="0"/>
                      <a:pt x="0" y="158122"/>
                      <a:pt x="0" y="353176"/>
                    </a:cubicBezTo>
                    <a:cubicBezTo>
                      <a:pt x="0" y="548230"/>
                      <a:pt x="181951" y="706352"/>
                      <a:pt x="406400" y="706352"/>
                    </a:cubicBezTo>
                    <a:cubicBezTo>
                      <a:pt x="630849" y="706352"/>
                      <a:pt x="812800" y="548230"/>
                      <a:pt x="812800" y="353176"/>
                    </a:cubicBezTo>
                    <a:cubicBezTo>
                      <a:pt x="812800" y="158122"/>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28121"/>
                <a:ext cx="660400" cy="612011"/>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45086"/>
              <a:ext cx="644736" cy="346796"/>
            </a:xfrm>
            <a:prstGeom prst="rect">
              <a:avLst/>
            </a:prstGeom>
          </p:spPr>
          <p:txBody>
            <a:bodyPr anchor="t" rtlCol="false" tIns="0" lIns="0" bIns="0" rIns="0">
              <a:spAutoFit/>
            </a:bodyPr>
            <a:lstStyle/>
            <a:p>
              <a:pPr algn="ctr" marL="0" indent="0" lvl="0">
                <a:lnSpc>
                  <a:spcPts val="2088"/>
                </a:lnSpc>
              </a:pPr>
              <a:r>
                <a:rPr lang="en-US" sz="1619"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5023869"/>
            <a:ext cx="746986" cy="649157"/>
            <a:chOff x="0" y="0"/>
            <a:chExt cx="995981" cy="865543"/>
          </a:xfrm>
        </p:grpSpPr>
        <p:grpSp>
          <p:nvGrpSpPr>
            <p:cNvPr name="Group 41" id="41"/>
            <p:cNvGrpSpPr/>
            <p:nvPr/>
          </p:nvGrpSpPr>
          <p:grpSpPr>
            <a:xfrm rot="0">
              <a:off x="0" y="0"/>
              <a:ext cx="995981" cy="865543"/>
              <a:chOff x="0" y="0"/>
              <a:chExt cx="812800" cy="706352"/>
            </a:xfrm>
          </p:grpSpPr>
          <p:sp>
            <p:nvSpPr>
              <p:cNvPr name="Freeform 42" id="42"/>
              <p:cNvSpPr/>
              <p:nvPr/>
            </p:nvSpPr>
            <p:spPr>
              <a:xfrm flipH="false" flipV="false" rot="0">
                <a:off x="0" y="0"/>
                <a:ext cx="812800" cy="706352"/>
              </a:xfrm>
              <a:custGeom>
                <a:avLst/>
                <a:gdLst/>
                <a:ahLst/>
                <a:cxnLst/>
                <a:rect r="r" b="b" t="t" l="l"/>
                <a:pathLst>
                  <a:path h="706352" w="812800">
                    <a:moveTo>
                      <a:pt x="406400" y="0"/>
                    </a:moveTo>
                    <a:cubicBezTo>
                      <a:pt x="181951" y="0"/>
                      <a:pt x="0" y="158122"/>
                      <a:pt x="0" y="353176"/>
                    </a:cubicBezTo>
                    <a:cubicBezTo>
                      <a:pt x="0" y="548230"/>
                      <a:pt x="181951" y="706352"/>
                      <a:pt x="406400" y="706352"/>
                    </a:cubicBezTo>
                    <a:cubicBezTo>
                      <a:pt x="630849" y="706352"/>
                      <a:pt x="812800" y="548230"/>
                      <a:pt x="812800" y="353176"/>
                    </a:cubicBezTo>
                    <a:cubicBezTo>
                      <a:pt x="812800" y="158122"/>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28121"/>
                <a:ext cx="660400" cy="612011"/>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45086"/>
              <a:ext cx="644736" cy="346796"/>
            </a:xfrm>
            <a:prstGeom prst="rect">
              <a:avLst/>
            </a:prstGeom>
          </p:spPr>
          <p:txBody>
            <a:bodyPr anchor="t" rtlCol="false" tIns="0" lIns="0" bIns="0" rIns="0">
              <a:spAutoFit/>
            </a:bodyPr>
            <a:lstStyle/>
            <a:p>
              <a:pPr algn="ctr" marL="0" indent="0" lvl="0">
                <a:lnSpc>
                  <a:spcPts val="2088"/>
                </a:lnSpc>
              </a:pPr>
              <a:r>
                <a:rPr lang="en-US" sz="1619" spc="-4">
                  <a:solidFill>
                    <a:srgbClr val="FFFFFF"/>
                  </a:solidFill>
                  <a:latin typeface="Poppins"/>
                  <a:ea typeface="Poppins"/>
                  <a:cs typeface="Poppins"/>
                  <a:sym typeface="Poppins"/>
                </a:rPr>
                <a:t>03</a:t>
              </a:r>
            </a:p>
          </p:txBody>
        </p:sp>
      </p:grpSp>
      <p:grpSp>
        <p:nvGrpSpPr>
          <p:cNvPr name="Group 45" id="45"/>
          <p:cNvGrpSpPr/>
          <p:nvPr/>
        </p:nvGrpSpPr>
        <p:grpSpPr>
          <a:xfrm rot="0">
            <a:off x="15791068" y="5023869"/>
            <a:ext cx="746986" cy="649157"/>
            <a:chOff x="0" y="0"/>
            <a:chExt cx="995981" cy="865543"/>
          </a:xfrm>
        </p:grpSpPr>
        <p:grpSp>
          <p:nvGrpSpPr>
            <p:cNvPr name="Group 46" id="46"/>
            <p:cNvGrpSpPr/>
            <p:nvPr/>
          </p:nvGrpSpPr>
          <p:grpSpPr>
            <a:xfrm rot="0">
              <a:off x="0" y="0"/>
              <a:ext cx="995981" cy="865543"/>
              <a:chOff x="0" y="0"/>
              <a:chExt cx="812800" cy="706352"/>
            </a:xfrm>
          </p:grpSpPr>
          <p:sp>
            <p:nvSpPr>
              <p:cNvPr name="Freeform 47" id="47"/>
              <p:cNvSpPr/>
              <p:nvPr/>
            </p:nvSpPr>
            <p:spPr>
              <a:xfrm flipH="false" flipV="false" rot="0">
                <a:off x="0" y="0"/>
                <a:ext cx="812800" cy="706352"/>
              </a:xfrm>
              <a:custGeom>
                <a:avLst/>
                <a:gdLst/>
                <a:ahLst/>
                <a:cxnLst/>
                <a:rect r="r" b="b" t="t" l="l"/>
                <a:pathLst>
                  <a:path h="706352" w="812800">
                    <a:moveTo>
                      <a:pt x="406400" y="0"/>
                    </a:moveTo>
                    <a:cubicBezTo>
                      <a:pt x="181951" y="0"/>
                      <a:pt x="0" y="158122"/>
                      <a:pt x="0" y="353176"/>
                    </a:cubicBezTo>
                    <a:cubicBezTo>
                      <a:pt x="0" y="548230"/>
                      <a:pt x="181951" y="706352"/>
                      <a:pt x="406400" y="706352"/>
                    </a:cubicBezTo>
                    <a:cubicBezTo>
                      <a:pt x="630849" y="706352"/>
                      <a:pt x="812800" y="548230"/>
                      <a:pt x="812800" y="353176"/>
                    </a:cubicBezTo>
                    <a:cubicBezTo>
                      <a:pt x="812800" y="158122"/>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28121"/>
                <a:ext cx="660400" cy="612011"/>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45086"/>
              <a:ext cx="644736" cy="346796"/>
            </a:xfrm>
            <a:prstGeom prst="rect">
              <a:avLst/>
            </a:prstGeom>
          </p:spPr>
          <p:txBody>
            <a:bodyPr anchor="t" rtlCol="false" tIns="0" lIns="0" bIns="0" rIns="0">
              <a:spAutoFit/>
            </a:bodyPr>
            <a:lstStyle/>
            <a:p>
              <a:pPr algn="ctr" marL="0" indent="0" lvl="0">
                <a:lnSpc>
                  <a:spcPts val="2088"/>
                </a:lnSpc>
              </a:pPr>
              <a:r>
                <a:rPr lang="en-US" sz="1619"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872561"/>
            <a:ext cx="11560683" cy="932499"/>
          </a:xfrm>
          <a:prstGeom prst="rect">
            <a:avLst/>
          </a:prstGeom>
        </p:spPr>
        <p:txBody>
          <a:bodyPr anchor="t" rtlCol="false" tIns="0" lIns="0" bIns="0" rIns="0">
            <a:spAutoFit/>
          </a:bodyPr>
          <a:lstStyle/>
          <a:p>
            <a:pPr algn="ctr" marL="0" indent="0" lvl="0">
              <a:lnSpc>
                <a:spcPts val="6982"/>
              </a:lnSpc>
            </a:pPr>
            <a:r>
              <a:rPr lang="en-US" sz="7125" spc="-45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Các phương án đã đánh giá</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1311" y="0"/>
            <a:ext cx="546689" cy="7173190"/>
            <a:chOff x="0" y="0"/>
            <a:chExt cx="143984" cy="1889235"/>
          </a:xfrm>
        </p:grpSpPr>
        <p:sp>
          <p:nvSpPr>
            <p:cNvPr name="Freeform 3" id="3"/>
            <p:cNvSpPr/>
            <p:nvPr/>
          </p:nvSpPr>
          <p:spPr>
            <a:xfrm flipH="false" flipV="false" rot="0">
              <a:off x="0" y="0"/>
              <a:ext cx="143984" cy="1889235"/>
            </a:xfrm>
            <a:custGeom>
              <a:avLst/>
              <a:gdLst/>
              <a:ahLst/>
              <a:cxnLst/>
              <a:rect r="r" b="b" t="t" l="l"/>
              <a:pathLst>
                <a:path h="1889235" w="143984">
                  <a:moveTo>
                    <a:pt x="0" y="0"/>
                  </a:moveTo>
                  <a:lnTo>
                    <a:pt x="143984" y="0"/>
                  </a:lnTo>
                  <a:lnTo>
                    <a:pt x="143984" y="1889235"/>
                  </a:lnTo>
                  <a:lnTo>
                    <a:pt x="0" y="188923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143984" cy="192733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5" id="5"/>
          <p:cNvSpPr/>
          <p:nvPr/>
        </p:nvSpPr>
        <p:spPr>
          <a:xfrm flipH="true">
            <a:off x="4442685" y="0"/>
            <a:ext cx="0" cy="10287000"/>
          </a:xfrm>
          <a:prstGeom prst="line">
            <a:avLst/>
          </a:prstGeom>
          <a:ln cap="rnd" w="19050">
            <a:solidFill>
              <a:srgbClr val="3A58E4"/>
            </a:solidFill>
            <a:prstDash val="solid"/>
            <a:headEnd type="none" len="sm" w="sm"/>
            <a:tailEnd type="none" len="sm" w="sm"/>
          </a:ln>
        </p:spPr>
      </p:sp>
      <p:sp>
        <p:nvSpPr>
          <p:cNvPr name="AutoShape 6" id="6"/>
          <p:cNvSpPr/>
          <p:nvPr/>
        </p:nvSpPr>
        <p:spPr>
          <a:xfrm>
            <a:off x="8872264" y="0"/>
            <a:ext cx="0" cy="7163665"/>
          </a:xfrm>
          <a:prstGeom prst="line">
            <a:avLst/>
          </a:prstGeom>
          <a:ln cap="rnd" w="19050">
            <a:solidFill>
              <a:srgbClr val="3A58E4"/>
            </a:solidFill>
            <a:prstDash val="solid"/>
            <a:headEnd type="none" len="sm" w="sm"/>
            <a:tailEnd type="none" len="sm" w="sm"/>
          </a:ln>
        </p:spPr>
      </p:sp>
      <p:sp>
        <p:nvSpPr>
          <p:cNvPr name="AutoShape 7" id="7"/>
          <p:cNvSpPr/>
          <p:nvPr/>
        </p:nvSpPr>
        <p:spPr>
          <a:xfrm>
            <a:off x="13301844" y="0"/>
            <a:ext cx="0" cy="7163665"/>
          </a:xfrm>
          <a:prstGeom prst="line">
            <a:avLst/>
          </a:prstGeom>
          <a:ln cap="rnd" w="19050">
            <a:solidFill>
              <a:srgbClr val="3A58E4"/>
            </a:solidFill>
            <a:prstDash val="solid"/>
            <a:headEnd type="none" len="sm" w="sm"/>
            <a:tailEnd type="none" len="sm" w="sm"/>
          </a:ln>
        </p:spPr>
      </p:sp>
      <p:sp>
        <p:nvSpPr>
          <p:cNvPr name="AutoShape 8" id="8"/>
          <p:cNvSpPr/>
          <p:nvPr/>
        </p:nvSpPr>
        <p:spPr>
          <a:xfrm>
            <a:off x="0" y="7173190"/>
            <a:ext cx="18288000" cy="0"/>
          </a:xfrm>
          <a:prstGeom prst="line">
            <a:avLst/>
          </a:prstGeom>
          <a:ln cap="rnd" w="19050">
            <a:solidFill>
              <a:srgbClr val="3A58E4"/>
            </a:solidFill>
            <a:prstDash val="solid"/>
            <a:headEnd type="none" len="sm" w="sm"/>
            <a:tailEnd type="none" len="sm" w="sm"/>
          </a:ln>
        </p:spPr>
      </p:sp>
      <p:grpSp>
        <p:nvGrpSpPr>
          <p:cNvPr name="Group 9" id="9"/>
          <p:cNvGrpSpPr/>
          <p:nvPr/>
        </p:nvGrpSpPr>
        <p:grpSpPr>
          <a:xfrm rot="0">
            <a:off x="16305" y="9608"/>
            <a:ext cx="1197405" cy="1196165"/>
            <a:chOff x="0" y="0"/>
            <a:chExt cx="1596540" cy="1594886"/>
          </a:xfrm>
        </p:grpSpPr>
        <p:grpSp>
          <p:nvGrpSpPr>
            <p:cNvPr name="Group 10" id="10"/>
            <p:cNvGrpSpPr/>
            <p:nvPr/>
          </p:nvGrpSpPr>
          <p:grpSpPr>
            <a:xfrm rot="0">
              <a:off x="0" y="0"/>
              <a:ext cx="1596540" cy="1594886"/>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05</a:t>
              </a:r>
            </a:p>
          </p:txBody>
        </p:sp>
      </p:grpSp>
      <p:grpSp>
        <p:nvGrpSpPr>
          <p:cNvPr name="Group 14" id="14"/>
          <p:cNvGrpSpPr/>
          <p:nvPr/>
        </p:nvGrpSpPr>
        <p:grpSpPr>
          <a:xfrm rot="0">
            <a:off x="4442685" y="9608"/>
            <a:ext cx="1197405" cy="1196165"/>
            <a:chOff x="0" y="0"/>
            <a:chExt cx="1596540" cy="1594886"/>
          </a:xfrm>
        </p:grpSpPr>
        <p:grpSp>
          <p:nvGrpSpPr>
            <p:cNvPr name="Group 15" id="15"/>
            <p:cNvGrpSpPr/>
            <p:nvPr/>
          </p:nvGrpSpPr>
          <p:grpSpPr>
            <a:xfrm rot="0">
              <a:off x="0" y="0"/>
              <a:ext cx="1596540" cy="1594886"/>
              <a:chOff x="0" y="0"/>
              <a:chExt cx="787566" cy="786750"/>
            </a:xfrm>
          </p:grpSpPr>
          <p:sp>
            <p:nvSpPr>
              <p:cNvPr name="Freeform 16" id="1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05</a:t>
              </a:r>
            </a:p>
          </p:txBody>
        </p:sp>
      </p:grpSp>
      <p:grpSp>
        <p:nvGrpSpPr>
          <p:cNvPr name="Group 19" id="19"/>
          <p:cNvGrpSpPr/>
          <p:nvPr/>
        </p:nvGrpSpPr>
        <p:grpSpPr>
          <a:xfrm rot="0">
            <a:off x="8875845" y="9608"/>
            <a:ext cx="1197405" cy="1196165"/>
            <a:chOff x="0" y="0"/>
            <a:chExt cx="1596540" cy="1594886"/>
          </a:xfrm>
        </p:grpSpPr>
        <p:grpSp>
          <p:nvGrpSpPr>
            <p:cNvPr name="Group 20" id="20"/>
            <p:cNvGrpSpPr/>
            <p:nvPr/>
          </p:nvGrpSpPr>
          <p:grpSpPr>
            <a:xfrm rot="0">
              <a:off x="0" y="0"/>
              <a:ext cx="1596540" cy="1594886"/>
              <a:chOff x="0" y="0"/>
              <a:chExt cx="787566" cy="786750"/>
            </a:xfrm>
          </p:grpSpPr>
          <p:sp>
            <p:nvSpPr>
              <p:cNvPr name="Freeform 21" id="2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2" id="2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05</a:t>
              </a:r>
            </a:p>
          </p:txBody>
        </p:sp>
      </p:grpSp>
      <p:grpSp>
        <p:nvGrpSpPr>
          <p:cNvPr name="Group 24" id="24"/>
          <p:cNvGrpSpPr/>
          <p:nvPr/>
        </p:nvGrpSpPr>
        <p:grpSpPr>
          <a:xfrm rot="0">
            <a:off x="13309005" y="9608"/>
            <a:ext cx="1197405" cy="1196165"/>
            <a:chOff x="0" y="0"/>
            <a:chExt cx="1596540" cy="1594886"/>
          </a:xfrm>
        </p:grpSpPr>
        <p:grpSp>
          <p:nvGrpSpPr>
            <p:cNvPr name="Group 25" id="25"/>
            <p:cNvGrpSpPr/>
            <p:nvPr/>
          </p:nvGrpSpPr>
          <p:grpSpPr>
            <a:xfrm rot="0">
              <a:off x="0" y="0"/>
              <a:ext cx="1596540" cy="1594886"/>
              <a:chOff x="0" y="0"/>
              <a:chExt cx="787566" cy="786750"/>
            </a:xfrm>
          </p:grpSpPr>
          <p:sp>
            <p:nvSpPr>
              <p:cNvPr name="Freeform 26" id="2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7" id="2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8" id="2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05</a:t>
              </a:r>
            </a:p>
          </p:txBody>
        </p:sp>
      </p:grpSp>
      <p:sp>
        <p:nvSpPr>
          <p:cNvPr name="Freeform 29" id="29"/>
          <p:cNvSpPr/>
          <p:nvPr/>
        </p:nvSpPr>
        <p:spPr>
          <a:xfrm flipH="false" flipV="false" rot="0">
            <a:off x="10683883" y="1863873"/>
            <a:ext cx="762713" cy="793530"/>
          </a:xfrm>
          <a:custGeom>
            <a:avLst/>
            <a:gdLst/>
            <a:ahLst/>
            <a:cxnLst/>
            <a:rect r="r" b="b" t="t" l="l"/>
            <a:pathLst>
              <a:path h="793530" w="762713">
                <a:moveTo>
                  <a:pt x="0" y="0"/>
                </a:moveTo>
                <a:lnTo>
                  <a:pt x="762713" y="0"/>
                </a:lnTo>
                <a:lnTo>
                  <a:pt x="762713" y="793530"/>
                </a:lnTo>
                <a:lnTo>
                  <a:pt x="0" y="793530"/>
                </a:lnTo>
                <a:lnTo>
                  <a:pt x="0" y="0"/>
                </a:lnTo>
                <a:close/>
              </a:path>
            </a:pathLst>
          </a:custGeom>
          <a:blipFill>
            <a:blip r:embed="rId2"/>
            <a:stretch>
              <a:fillRect l="0" t="0" r="0" b="0"/>
            </a:stretch>
          </a:blipFill>
        </p:spPr>
      </p:sp>
      <p:sp>
        <p:nvSpPr>
          <p:cNvPr name="Freeform 30" id="30"/>
          <p:cNvSpPr/>
          <p:nvPr/>
        </p:nvSpPr>
        <p:spPr>
          <a:xfrm flipH="false" flipV="false" rot="-5400000">
            <a:off x="15032790" y="1839863"/>
            <a:ext cx="857098" cy="914545"/>
          </a:xfrm>
          <a:custGeom>
            <a:avLst/>
            <a:gdLst/>
            <a:ahLst/>
            <a:cxnLst/>
            <a:rect r="r" b="b" t="t" l="l"/>
            <a:pathLst>
              <a:path h="914545" w="857098">
                <a:moveTo>
                  <a:pt x="0" y="0"/>
                </a:moveTo>
                <a:lnTo>
                  <a:pt x="857098" y="0"/>
                </a:lnTo>
                <a:lnTo>
                  <a:pt x="857098" y="914544"/>
                </a:lnTo>
                <a:lnTo>
                  <a:pt x="0" y="914544"/>
                </a:lnTo>
                <a:lnTo>
                  <a:pt x="0" y="0"/>
                </a:lnTo>
                <a:close/>
              </a:path>
            </a:pathLst>
          </a:custGeom>
          <a:blipFill>
            <a:blip r:embed="rId3"/>
            <a:stretch>
              <a:fillRect l="0" t="0" r="0" b="0"/>
            </a:stretch>
          </a:blipFill>
        </p:spPr>
      </p:sp>
      <p:sp>
        <p:nvSpPr>
          <p:cNvPr name="Freeform 31" id="31"/>
          <p:cNvSpPr/>
          <p:nvPr/>
        </p:nvSpPr>
        <p:spPr>
          <a:xfrm flipH="false" flipV="false" rot="0">
            <a:off x="1822644" y="2001545"/>
            <a:ext cx="820279" cy="624792"/>
          </a:xfrm>
          <a:custGeom>
            <a:avLst/>
            <a:gdLst/>
            <a:ahLst/>
            <a:cxnLst/>
            <a:rect r="r" b="b" t="t" l="l"/>
            <a:pathLst>
              <a:path h="624792" w="820279">
                <a:moveTo>
                  <a:pt x="0" y="0"/>
                </a:moveTo>
                <a:lnTo>
                  <a:pt x="820279" y="0"/>
                </a:lnTo>
                <a:lnTo>
                  <a:pt x="820279" y="624793"/>
                </a:lnTo>
                <a:lnTo>
                  <a:pt x="0" y="624793"/>
                </a:lnTo>
                <a:lnTo>
                  <a:pt x="0" y="0"/>
                </a:lnTo>
                <a:close/>
              </a:path>
            </a:pathLst>
          </a:custGeom>
          <a:blipFill>
            <a:blip r:embed="rId4"/>
            <a:stretch>
              <a:fillRect l="0" t="0" r="0" b="0"/>
            </a:stretch>
          </a:blipFill>
        </p:spPr>
      </p:sp>
      <p:grpSp>
        <p:nvGrpSpPr>
          <p:cNvPr name="Group 32" id="32"/>
          <p:cNvGrpSpPr/>
          <p:nvPr/>
        </p:nvGrpSpPr>
        <p:grpSpPr>
          <a:xfrm rot="0">
            <a:off x="1028700" y="8125800"/>
            <a:ext cx="22757" cy="975106"/>
            <a:chOff x="0" y="0"/>
            <a:chExt cx="12543" cy="537460"/>
          </a:xfrm>
        </p:grpSpPr>
        <p:sp>
          <p:nvSpPr>
            <p:cNvPr name="Freeform 33" id="3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34" id="3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5" id="35"/>
          <p:cNvGrpSpPr/>
          <p:nvPr/>
        </p:nvGrpSpPr>
        <p:grpSpPr>
          <a:xfrm rot="0">
            <a:off x="-9525" y="7173190"/>
            <a:ext cx="546689" cy="3113810"/>
            <a:chOff x="0" y="0"/>
            <a:chExt cx="143984" cy="820098"/>
          </a:xfrm>
        </p:grpSpPr>
        <p:sp>
          <p:nvSpPr>
            <p:cNvPr name="Freeform 36" id="36"/>
            <p:cNvSpPr/>
            <p:nvPr/>
          </p:nvSpPr>
          <p:spPr>
            <a:xfrm flipH="false" flipV="false" rot="0">
              <a:off x="0" y="0"/>
              <a:ext cx="143984" cy="820098"/>
            </a:xfrm>
            <a:custGeom>
              <a:avLst/>
              <a:gdLst/>
              <a:ahLst/>
              <a:cxnLst/>
              <a:rect r="r" b="b" t="t" l="l"/>
              <a:pathLst>
                <a:path h="820098" w="143984">
                  <a:moveTo>
                    <a:pt x="0" y="0"/>
                  </a:moveTo>
                  <a:lnTo>
                    <a:pt x="143984" y="0"/>
                  </a:lnTo>
                  <a:lnTo>
                    <a:pt x="143984" y="820098"/>
                  </a:lnTo>
                  <a:lnTo>
                    <a:pt x="0" y="820098"/>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37" id="37"/>
            <p:cNvSpPr txBox="true"/>
            <p:nvPr/>
          </p:nvSpPr>
          <p:spPr>
            <a:xfrm>
              <a:off x="0" y="-38100"/>
              <a:ext cx="143984" cy="8581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8" id="38"/>
          <p:cNvSpPr/>
          <p:nvPr/>
        </p:nvSpPr>
        <p:spPr>
          <a:xfrm flipH="false" flipV="false" rot="0">
            <a:off x="6175619" y="1695852"/>
            <a:ext cx="1037588" cy="1212990"/>
          </a:xfrm>
          <a:custGeom>
            <a:avLst/>
            <a:gdLst/>
            <a:ahLst/>
            <a:cxnLst/>
            <a:rect r="r" b="b" t="t" l="l"/>
            <a:pathLst>
              <a:path h="1212990" w="1037588">
                <a:moveTo>
                  <a:pt x="0" y="0"/>
                </a:moveTo>
                <a:lnTo>
                  <a:pt x="1037587" y="0"/>
                </a:lnTo>
                <a:lnTo>
                  <a:pt x="1037587" y="1212990"/>
                </a:lnTo>
                <a:lnTo>
                  <a:pt x="0" y="1212990"/>
                </a:lnTo>
                <a:lnTo>
                  <a:pt x="0" y="0"/>
                </a:lnTo>
                <a:close/>
              </a:path>
            </a:pathLst>
          </a:custGeom>
          <a:blipFill>
            <a:blip r:embed="rId5"/>
            <a:stretch>
              <a:fillRect l="0" t="0" r="0" b="0"/>
            </a:stretch>
          </a:blipFill>
        </p:spPr>
      </p:sp>
      <p:sp>
        <p:nvSpPr>
          <p:cNvPr name="TextBox 39" id="39"/>
          <p:cNvSpPr txBox="true"/>
          <p:nvPr/>
        </p:nvSpPr>
        <p:spPr>
          <a:xfrm rot="0">
            <a:off x="562973" y="4780324"/>
            <a:ext cx="3336787" cy="15383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NGINX Plus: Cao</a:t>
            </a:r>
          </a:p>
          <a:p>
            <a:pPr algn="just" marL="0" indent="0" lvl="0">
              <a:lnSpc>
                <a:spcPts val="2435"/>
              </a:lnSpc>
            </a:pPr>
            <a:r>
              <a:rPr lang="en-US" sz="1873" spc="-5">
                <a:solidFill>
                  <a:srgbClr val="3A58E4"/>
                </a:solidFill>
                <a:latin typeface="Poppins"/>
                <a:ea typeface="Poppins"/>
                <a:cs typeface="Poppins"/>
                <a:sym typeface="Poppins"/>
              </a:rPr>
              <a:t>HA Proxy: Cao</a:t>
            </a:r>
          </a:p>
          <a:p>
            <a:pPr algn="just" marL="0" indent="0" lvl="0">
              <a:lnSpc>
                <a:spcPts val="2435"/>
              </a:lnSpc>
            </a:pPr>
            <a:r>
              <a:rPr lang="en-US" sz="1873" spc="-5">
                <a:solidFill>
                  <a:srgbClr val="3A58E4"/>
                </a:solidFill>
                <a:latin typeface="Poppins"/>
                <a:ea typeface="Poppins"/>
                <a:cs typeface="Poppins"/>
                <a:sym typeface="Poppins"/>
              </a:rPr>
              <a:t>Envoy: Cao</a:t>
            </a:r>
          </a:p>
          <a:p>
            <a:pPr algn="just" marL="0" indent="0" lvl="0">
              <a:lnSpc>
                <a:spcPts val="2435"/>
              </a:lnSpc>
            </a:pPr>
            <a:r>
              <a:rPr lang="en-US" sz="1873" spc="-5">
                <a:solidFill>
                  <a:srgbClr val="3A58E4"/>
                </a:solidFill>
                <a:latin typeface="Poppins"/>
                <a:ea typeface="Poppins"/>
                <a:cs typeface="Poppins"/>
                <a:sym typeface="Poppins"/>
              </a:rPr>
              <a:t>NGINX OSS: Trung bình</a:t>
            </a:r>
          </a:p>
          <a:p>
            <a:pPr algn="just" marL="0" indent="0" lvl="0">
              <a:lnSpc>
                <a:spcPts val="2435"/>
              </a:lnSpc>
            </a:pPr>
            <a:r>
              <a:rPr lang="en-US" sz="1873" spc="-5">
                <a:solidFill>
                  <a:srgbClr val="3A58E4"/>
                </a:solidFill>
                <a:latin typeface="Poppins"/>
                <a:ea typeface="Poppins"/>
                <a:cs typeface="Poppins"/>
                <a:sym typeface="Poppins"/>
              </a:rPr>
              <a:t>(Không còn tối ưu hóa)</a:t>
            </a:r>
          </a:p>
        </p:txBody>
      </p:sp>
      <p:sp>
        <p:nvSpPr>
          <p:cNvPr name="TextBox 40" id="40"/>
          <p:cNvSpPr txBox="true"/>
          <p:nvPr/>
        </p:nvSpPr>
        <p:spPr>
          <a:xfrm rot="0">
            <a:off x="4989081" y="4475524"/>
            <a:ext cx="3336787" cy="18431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NGINX Plus: Cao</a:t>
            </a:r>
          </a:p>
          <a:p>
            <a:pPr algn="just" marL="0" indent="0" lvl="0">
              <a:lnSpc>
                <a:spcPts val="2435"/>
              </a:lnSpc>
            </a:pPr>
            <a:r>
              <a:rPr lang="en-US" sz="1873" spc="-5">
                <a:solidFill>
                  <a:srgbClr val="3A58E4"/>
                </a:solidFill>
                <a:latin typeface="Poppins"/>
                <a:ea typeface="Poppins"/>
                <a:cs typeface="Poppins"/>
                <a:sym typeface="Poppins"/>
              </a:rPr>
              <a:t>(SLA 24/7, bản vá nhanh)</a:t>
            </a:r>
          </a:p>
          <a:p>
            <a:pPr algn="just" marL="0" indent="0" lvl="0">
              <a:lnSpc>
                <a:spcPts val="2435"/>
              </a:lnSpc>
            </a:pPr>
            <a:r>
              <a:rPr lang="en-US" sz="1873" spc="-5">
                <a:solidFill>
                  <a:srgbClr val="3A58E4"/>
                </a:solidFill>
                <a:latin typeface="Poppins"/>
                <a:ea typeface="Poppins"/>
                <a:cs typeface="Poppins"/>
                <a:sym typeface="Poppins"/>
              </a:rPr>
              <a:t>HA Proxy: Trung bình</a:t>
            </a:r>
          </a:p>
          <a:p>
            <a:pPr algn="just" marL="0" indent="0" lvl="0">
              <a:lnSpc>
                <a:spcPts val="2435"/>
              </a:lnSpc>
            </a:pPr>
            <a:r>
              <a:rPr lang="en-US" sz="1873" spc="-5">
                <a:solidFill>
                  <a:srgbClr val="3A58E4"/>
                </a:solidFill>
                <a:latin typeface="Poppins"/>
                <a:ea typeface="Poppins"/>
                <a:cs typeface="Poppins"/>
                <a:sym typeface="Poppins"/>
              </a:rPr>
              <a:t>Envoy: Trung bình</a:t>
            </a:r>
          </a:p>
          <a:p>
            <a:pPr algn="just" marL="0" indent="0" lvl="0">
              <a:lnSpc>
                <a:spcPts val="2435"/>
              </a:lnSpc>
            </a:pPr>
            <a:r>
              <a:rPr lang="en-US" sz="1873" spc="-5">
                <a:solidFill>
                  <a:srgbClr val="3A58E4"/>
                </a:solidFill>
                <a:latin typeface="Poppins"/>
                <a:ea typeface="Poppins"/>
                <a:cs typeface="Poppins"/>
                <a:sym typeface="Poppins"/>
              </a:rPr>
              <a:t>NGINX OSS: Thấp</a:t>
            </a:r>
          </a:p>
          <a:p>
            <a:pPr algn="just" marL="0" indent="0" lvl="0">
              <a:lnSpc>
                <a:spcPts val="2435"/>
              </a:lnSpc>
            </a:pPr>
            <a:r>
              <a:rPr lang="en-US" sz="1873" spc="-5">
                <a:solidFill>
                  <a:srgbClr val="3A58E4"/>
                </a:solidFill>
                <a:latin typeface="Poppins"/>
                <a:ea typeface="Poppins"/>
                <a:cs typeface="Poppins"/>
                <a:sym typeface="Poppins"/>
              </a:rPr>
              <a:t>(Deprecation)</a:t>
            </a:r>
          </a:p>
        </p:txBody>
      </p:sp>
      <p:sp>
        <p:nvSpPr>
          <p:cNvPr name="TextBox 41" id="41"/>
          <p:cNvSpPr txBox="true"/>
          <p:nvPr/>
        </p:nvSpPr>
        <p:spPr>
          <a:xfrm rot="0">
            <a:off x="9415189" y="4475524"/>
            <a:ext cx="3336787" cy="18431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NGINX Plus: Cao</a:t>
            </a:r>
          </a:p>
          <a:p>
            <a:pPr algn="just" marL="0" indent="0" lvl="0">
              <a:lnSpc>
                <a:spcPts val="2435"/>
              </a:lnSpc>
            </a:pPr>
            <a:r>
              <a:rPr lang="en-US" sz="1873" spc="-5">
                <a:solidFill>
                  <a:srgbClr val="3A58E4"/>
                </a:solidFill>
                <a:latin typeface="Poppins"/>
                <a:ea typeface="Poppins"/>
                <a:cs typeface="Poppins"/>
                <a:sym typeface="Poppins"/>
              </a:rPr>
              <a:t>(Enterprise, hỗ trợ 24/7)</a:t>
            </a:r>
          </a:p>
          <a:p>
            <a:pPr algn="just" marL="0" indent="0" lvl="0">
              <a:lnSpc>
                <a:spcPts val="2435"/>
              </a:lnSpc>
            </a:pPr>
            <a:r>
              <a:rPr lang="en-US" sz="1873" spc="-5">
                <a:solidFill>
                  <a:srgbClr val="3A58E4"/>
                </a:solidFill>
                <a:latin typeface="Poppins"/>
                <a:ea typeface="Poppins"/>
                <a:cs typeface="Poppins"/>
                <a:sym typeface="Poppins"/>
              </a:rPr>
              <a:t>Envoy: Cao (Service mesh)</a:t>
            </a:r>
          </a:p>
          <a:p>
            <a:pPr algn="just" marL="0" indent="0" lvl="0">
              <a:lnSpc>
                <a:spcPts val="2435"/>
              </a:lnSpc>
            </a:pPr>
            <a:r>
              <a:rPr lang="en-US" sz="1873" spc="-5">
                <a:solidFill>
                  <a:srgbClr val="3A58E4"/>
                </a:solidFill>
                <a:latin typeface="Poppins"/>
                <a:ea typeface="Poppins"/>
                <a:cs typeface="Poppins"/>
                <a:sym typeface="Poppins"/>
              </a:rPr>
              <a:t>HA Proxy: Trung bình</a:t>
            </a:r>
          </a:p>
          <a:p>
            <a:pPr algn="just" marL="0" indent="0" lvl="0">
              <a:lnSpc>
                <a:spcPts val="2435"/>
              </a:lnSpc>
            </a:pPr>
            <a:r>
              <a:rPr lang="en-US" sz="1873" spc="-5">
                <a:solidFill>
                  <a:srgbClr val="3A58E4"/>
                </a:solidFill>
                <a:latin typeface="Poppins"/>
                <a:ea typeface="Poppins"/>
                <a:cs typeface="Poppins"/>
                <a:sym typeface="Poppins"/>
              </a:rPr>
              <a:t>NGINX OSS: Thấp</a:t>
            </a:r>
          </a:p>
          <a:p>
            <a:pPr algn="just" marL="0" indent="0" lvl="0">
              <a:lnSpc>
                <a:spcPts val="2435"/>
              </a:lnSpc>
            </a:pPr>
            <a:r>
              <a:rPr lang="en-US" sz="1873" spc="-5">
                <a:solidFill>
                  <a:srgbClr val="3A58E4"/>
                </a:solidFill>
                <a:latin typeface="Poppins"/>
                <a:ea typeface="Poppins"/>
                <a:cs typeface="Poppins"/>
                <a:sym typeface="Poppins"/>
              </a:rPr>
              <a:t>(Không hỗ trợ chính thức)</a:t>
            </a:r>
          </a:p>
        </p:txBody>
      </p:sp>
      <p:sp>
        <p:nvSpPr>
          <p:cNvPr name="TextBox 42" id="42"/>
          <p:cNvSpPr txBox="true"/>
          <p:nvPr/>
        </p:nvSpPr>
        <p:spPr>
          <a:xfrm rot="0">
            <a:off x="13844769" y="4475524"/>
            <a:ext cx="3336787" cy="18431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NGINX OSS: Thấp (Miễn phí)</a:t>
            </a:r>
          </a:p>
          <a:p>
            <a:pPr algn="just" marL="0" indent="0" lvl="0">
              <a:lnSpc>
                <a:spcPts val="2435"/>
              </a:lnSpc>
            </a:pPr>
            <a:r>
              <a:rPr lang="en-US" sz="1873" spc="-5">
                <a:solidFill>
                  <a:srgbClr val="3A58E4"/>
                </a:solidFill>
                <a:latin typeface="Poppins"/>
                <a:ea typeface="Poppins"/>
                <a:cs typeface="Poppins"/>
                <a:sym typeface="Poppins"/>
              </a:rPr>
              <a:t>HA Proxy: Thấp (Open source)</a:t>
            </a:r>
          </a:p>
          <a:p>
            <a:pPr algn="just" marL="0" indent="0" lvl="0">
              <a:lnSpc>
                <a:spcPts val="2435"/>
              </a:lnSpc>
            </a:pPr>
            <a:r>
              <a:rPr lang="en-US" sz="1873" spc="-5">
                <a:solidFill>
                  <a:srgbClr val="3A58E4"/>
                </a:solidFill>
                <a:latin typeface="Poppins"/>
                <a:ea typeface="Poppins"/>
                <a:cs typeface="Poppins"/>
                <a:sym typeface="Poppins"/>
              </a:rPr>
              <a:t>Envoy: Trung bình</a:t>
            </a:r>
          </a:p>
          <a:p>
            <a:pPr algn="just" marL="0" indent="0" lvl="0">
              <a:lnSpc>
                <a:spcPts val="2435"/>
              </a:lnSpc>
            </a:pPr>
            <a:r>
              <a:rPr lang="en-US" sz="1873" spc="-5">
                <a:solidFill>
                  <a:srgbClr val="3A58E4"/>
                </a:solidFill>
                <a:latin typeface="Poppins"/>
                <a:ea typeface="Poppins"/>
                <a:cs typeface="Poppins"/>
                <a:sym typeface="Poppins"/>
              </a:rPr>
              <a:t>NGINX Plus: Cao</a:t>
            </a:r>
          </a:p>
          <a:p>
            <a:pPr algn="just" marL="0" indent="0" lvl="0">
              <a:lnSpc>
                <a:spcPts val="2435"/>
              </a:lnSpc>
            </a:pPr>
            <a:r>
              <a:rPr lang="en-US" sz="1873" spc="-5">
                <a:solidFill>
                  <a:srgbClr val="3A58E4"/>
                </a:solidFill>
                <a:latin typeface="Poppins"/>
                <a:ea typeface="Poppins"/>
                <a:cs typeface="Poppins"/>
                <a:sym typeface="Poppins"/>
              </a:rPr>
              <a:t>(License fee, cộng đồng lớn)</a:t>
            </a:r>
          </a:p>
        </p:txBody>
      </p:sp>
      <p:sp>
        <p:nvSpPr>
          <p:cNvPr name="TextBox 43" id="43"/>
          <p:cNvSpPr txBox="true"/>
          <p:nvPr/>
        </p:nvSpPr>
        <p:spPr>
          <a:xfrm rot="0">
            <a:off x="1137678" y="8063749"/>
            <a:ext cx="2762082" cy="1194551"/>
          </a:xfrm>
          <a:prstGeom prst="rect">
            <a:avLst/>
          </a:prstGeom>
        </p:spPr>
        <p:txBody>
          <a:bodyPr anchor="t" rtlCol="false" tIns="0" lIns="0" bIns="0" rIns="0">
            <a:spAutoFit/>
          </a:bodyPr>
          <a:lstStyle/>
          <a:p>
            <a:pPr algn="l" marL="0" indent="0" lvl="0">
              <a:lnSpc>
                <a:spcPts val="4585"/>
              </a:lnSpc>
            </a:pPr>
            <a:r>
              <a:rPr lang="en-US" sz="4679" spc="-29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So sánh</a:t>
            </a:r>
          </a:p>
          <a:p>
            <a:pPr algn="l" marL="0" indent="0" lvl="0">
              <a:lnSpc>
                <a:spcPts val="4585"/>
              </a:lnSpc>
            </a:pPr>
            <a:r>
              <a:rPr lang="en-US" sz="4679" spc="-29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Công nghệ</a:t>
            </a:r>
          </a:p>
        </p:txBody>
      </p:sp>
      <p:sp>
        <p:nvSpPr>
          <p:cNvPr name="TextBox 44" id="44"/>
          <p:cNvSpPr txBox="true"/>
          <p:nvPr/>
        </p:nvSpPr>
        <p:spPr>
          <a:xfrm rot="0">
            <a:off x="4989081" y="8088378"/>
            <a:ext cx="7762895" cy="1012528"/>
          </a:xfrm>
          <a:prstGeom prst="rect">
            <a:avLst/>
          </a:prstGeom>
        </p:spPr>
        <p:txBody>
          <a:bodyPr anchor="t" rtlCol="false" tIns="0" lIns="0" bIns="0" rIns="0">
            <a:spAutoFit/>
          </a:bodyPr>
          <a:lstStyle/>
          <a:p>
            <a:pPr algn="just" marL="0" indent="0" lvl="0">
              <a:lnSpc>
                <a:spcPts val="2660"/>
              </a:lnSpc>
            </a:pPr>
            <a:r>
              <a:rPr lang="en-US" sz="1900" spc="-5">
                <a:solidFill>
                  <a:srgbClr val="3A58E4"/>
                </a:solidFill>
                <a:latin typeface="Poppins"/>
                <a:ea typeface="Poppins"/>
                <a:cs typeface="Poppins"/>
                <a:sym typeface="Poppins"/>
              </a:rPr>
              <a:t>Đánh giá tổng quan 4 giải pháp theo các tiêu chí quan trọng: Hiệu năng, Độ ổn định, Tính năng &amp; Hỗ trợ, Chi phí &amp; Cộng đồng. Mức đánh giá: Cao / Trung bình / Thấp.</a:t>
            </a:r>
          </a:p>
        </p:txBody>
      </p:sp>
      <p:sp>
        <p:nvSpPr>
          <p:cNvPr name="TextBox 45" id="45"/>
          <p:cNvSpPr txBox="true"/>
          <p:nvPr/>
        </p:nvSpPr>
        <p:spPr>
          <a:xfrm rot="0">
            <a:off x="512270" y="3090400"/>
            <a:ext cx="3438193" cy="8251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HIỆU NĂNG</a:t>
            </a:r>
          </a:p>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(PERFORMANCE)</a:t>
            </a:r>
          </a:p>
        </p:txBody>
      </p:sp>
      <p:sp>
        <p:nvSpPr>
          <p:cNvPr name="TextBox 46" id="46"/>
          <p:cNvSpPr txBox="true"/>
          <p:nvPr/>
        </p:nvSpPr>
        <p:spPr>
          <a:xfrm rot="0">
            <a:off x="4938378" y="3090400"/>
            <a:ext cx="3438193" cy="8251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ĐỘ ỔN ĐỊNH</a:t>
            </a:r>
          </a:p>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(STABILITY)</a:t>
            </a:r>
          </a:p>
        </p:txBody>
      </p:sp>
      <p:sp>
        <p:nvSpPr>
          <p:cNvPr name="TextBox 47" id="47"/>
          <p:cNvSpPr txBox="true"/>
          <p:nvPr/>
        </p:nvSpPr>
        <p:spPr>
          <a:xfrm rot="0">
            <a:off x="9364486" y="3090400"/>
            <a:ext cx="3438193" cy="8251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TÍNH NĂNG &amp;</a:t>
            </a:r>
          </a:p>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HỖ TRỢ</a:t>
            </a:r>
          </a:p>
        </p:txBody>
      </p:sp>
      <p:sp>
        <p:nvSpPr>
          <p:cNvPr name="TextBox 48" id="48"/>
          <p:cNvSpPr txBox="true"/>
          <p:nvPr/>
        </p:nvSpPr>
        <p:spPr>
          <a:xfrm rot="0">
            <a:off x="13794066" y="3090400"/>
            <a:ext cx="3438193" cy="8251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CHI PHÍ &amp;</a:t>
            </a:r>
          </a:p>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CỘNG ĐỒNG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33665" y="6255260"/>
            <a:ext cx="3625123" cy="2324054"/>
          </a:xfrm>
          <a:prstGeom prst="rect">
            <a:avLst/>
          </a:prstGeom>
        </p:spPr>
        <p:txBody>
          <a:bodyPr anchor="t" rtlCol="false" tIns="0" lIns="0" bIns="0" rIns="0">
            <a:spAutoFit/>
          </a:bodyPr>
          <a:lstStyle/>
          <a:p>
            <a:pPr algn="l" marL="0" indent="0" lvl="0">
              <a:lnSpc>
                <a:spcPts val="3809"/>
              </a:lnSpc>
            </a:pPr>
            <a:r>
              <a:rPr lang="en-US" sz="1523" spc="-97">
                <a:solidFill>
                  <a:srgbClr val="3A58E4"/>
                </a:solidFill>
                <a:latin typeface="Poppins"/>
                <a:ea typeface="Poppins"/>
                <a:cs typeface="Poppins"/>
                <a:sym typeface="Poppins"/>
              </a:rPr>
              <a:t>NGINX OSS</a:t>
            </a:r>
          </a:p>
          <a:p>
            <a:pPr algn="l" marL="0" indent="0" lvl="0">
              <a:lnSpc>
                <a:spcPts val="3809"/>
              </a:lnSpc>
            </a:pPr>
            <a:r>
              <a:rPr lang="en-US" sz="1523" spc="-97">
                <a:solidFill>
                  <a:srgbClr val="3A58E4"/>
                </a:solidFill>
                <a:latin typeface="Poppins"/>
                <a:ea typeface="Poppins"/>
                <a:cs typeface="Poppins"/>
                <a:sym typeface="Poppins"/>
              </a:rPr>
              <a:t>Ưu: Miễn phí, cộng đồng lớn</a:t>
            </a:r>
          </a:p>
          <a:p>
            <a:pPr algn="l" marL="0" indent="0" lvl="0">
              <a:lnSpc>
                <a:spcPts val="3809"/>
              </a:lnSpc>
            </a:pPr>
            <a:r>
              <a:rPr lang="en-US" sz="1523" spc="-97">
                <a:solidFill>
                  <a:srgbClr val="3A58E4"/>
                </a:solidFill>
                <a:latin typeface="Poppins"/>
                <a:ea typeface="Poppins"/>
                <a:cs typeface="Poppins"/>
                <a:sym typeface="Poppins"/>
              </a:rPr>
              <a:t>Nhược: Deprecation, không hỗ trợ</a:t>
            </a:r>
          </a:p>
          <a:p>
            <a:pPr algn="l" marL="0" indent="0" lvl="0">
              <a:lnSpc>
                <a:spcPts val="3809"/>
              </a:lnSpc>
            </a:pPr>
            <a:r>
              <a:rPr lang="en-US" sz="1523" spc="-97">
                <a:solidFill>
                  <a:srgbClr val="3A58E4"/>
                </a:solidFill>
                <a:latin typeface="Poppins"/>
                <a:ea typeface="Poppins"/>
                <a:cs typeface="Poppins"/>
                <a:sym typeface="Poppins"/>
              </a:rPr>
              <a:t>NGINX Plus</a:t>
            </a:r>
          </a:p>
          <a:p>
            <a:pPr algn="l" marL="0" indent="0" lvl="0">
              <a:lnSpc>
                <a:spcPts val="3809"/>
              </a:lnSpc>
            </a:pPr>
            <a:r>
              <a:rPr lang="en-US" sz="1523" spc="-97">
                <a:solidFill>
                  <a:srgbClr val="3A58E4"/>
                </a:solidFill>
                <a:latin typeface="Poppins"/>
                <a:ea typeface="Poppins"/>
                <a:cs typeface="Poppins"/>
                <a:sym typeface="Poppins"/>
              </a:rPr>
              <a:t>Ưu: Hiệu năng cao, SLA 24/7</a:t>
            </a:r>
          </a:p>
        </p:txBody>
      </p:sp>
      <p:sp>
        <p:nvSpPr>
          <p:cNvPr name="AutoShape 3" id="3"/>
          <p:cNvSpPr/>
          <p:nvPr/>
        </p:nvSpPr>
        <p:spPr>
          <a:xfrm>
            <a:off x="4188847" y="5233301"/>
            <a:ext cx="3866216" cy="0"/>
          </a:xfrm>
          <a:prstGeom prst="line">
            <a:avLst/>
          </a:prstGeom>
          <a:ln cap="rnd" w="9525">
            <a:solidFill>
              <a:srgbClr val="3A58E4"/>
            </a:solidFill>
            <a:prstDash val="solid"/>
            <a:headEnd type="none" len="sm" w="sm"/>
            <a:tailEnd type="none" len="sm" w="sm"/>
          </a:ln>
        </p:spPr>
      </p:sp>
      <p:sp>
        <p:nvSpPr>
          <p:cNvPr name="AutoShape 4" id="4"/>
          <p:cNvSpPr/>
          <p:nvPr/>
        </p:nvSpPr>
        <p:spPr>
          <a:xfrm>
            <a:off x="4188847" y="6026742"/>
            <a:ext cx="3866216" cy="0"/>
          </a:xfrm>
          <a:prstGeom prst="line">
            <a:avLst/>
          </a:prstGeom>
          <a:ln cap="rnd" w="9525">
            <a:solidFill>
              <a:srgbClr val="3A58E4"/>
            </a:solidFill>
            <a:prstDash val="solid"/>
            <a:headEnd type="none" len="sm" w="sm"/>
            <a:tailEnd type="none" len="sm" w="sm"/>
          </a:ln>
        </p:spPr>
      </p:sp>
      <p:sp>
        <p:nvSpPr>
          <p:cNvPr name="AutoShape 5" id="5"/>
          <p:cNvSpPr/>
          <p:nvPr/>
        </p:nvSpPr>
        <p:spPr>
          <a:xfrm>
            <a:off x="3875499" y="6820183"/>
            <a:ext cx="4179564" cy="0"/>
          </a:xfrm>
          <a:prstGeom prst="line">
            <a:avLst/>
          </a:prstGeom>
          <a:ln cap="rnd" w="9525">
            <a:solidFill>
              <a:srgbClr val="3A58E4"/>
            </a:solidFill>
            <a:prstDash val="solid"/>
            <a:headEnd type="none" len="sm" w="sm"/>
            <a:tailEnd type="none" len="sm" w="sm"/>
          </a:ln>
        </p:spPr>
      </p:sp>
      <p:sp>
        <p:nvSpPr>
          <p:cNvPr name="AutoShape 6" id="6"/>
          <p:cNvSpPr/>
          <p:nvPr/>
        </p:nvSpPr>
        <p:spPr>
          <a:xfrm>
            <a:off x="4355079" y="7611677"/>
            <a:ext cx="3699984" cy="0"/>
          </a:xfrm>
          <a:prstGeom prst="line">
            <a:avLst/>
          </a:prstGeom>
          <a:ln cap="rnd" w="9525">
            <a:solidFill>
              <a:srgbClr val="3A58E4"/>
            </a:solidFill>
            <a:prstDash val="solid"/>
            <a:headEnd type="none" len="sm" w="sm"/>
            <a:tailEnd type="none" len="sm" w="sm"/>
          </a:ln>
        </p:spPr>
      </p:sp>
      <p:sp>
        <p:nvSpPr>
          <p:cNvPr name="AutoShape 7" id="7"/>
          <p:cNvSpPr/>
          <p:nvPr/>
        </p:nvSpPr>
        <p:spPr>
          <a:xfrm>
            <a:off x="4883376" y="8403541"/>
            <a:ext cx="3171687" cy="0"/>
          </a:xfrm>
          <a:prstGeom prst="line">
            <a:avLst/>
          </a:prstGeom>
          <a:ln cap="rnd" w="9525">
            <a:solidFill>
              <a:srgbClr val="3A58E4"/>
            </a:solidFill>
            <a:prstDash val="solid"/>
            <a:headEnd type="none" len="sm" w="sm"/>
            <a:tailEnd type="none" len="sm" w="sm"/>
          </a:ln>
        </p:spPr>
      </p:sp>
      <p:sp>
        <p:nvSpPr>
          <p:cNvPr name="TextBox 8" id="8"/>
          <p:cNvSpPr txBox="true"/>
          <p:nvPr/>
        </p:nvSpPr>
        <p:spPr>
          <a:xfrm rot="0">
            <a:off x="8275007" y="6255260"/>
            <a:ext cx="504523" cy="2324054"/>
          </a:xfrm>
          <a:prstGeom prst="rect">
            <a:avLst/>
          </a:prstGeom>
        </p:spPr>
        <p:txBody>
          <a:bodyPr anchor="t" rtlCol="false" tIns="0" lIns="0" bIns="0" rIns="0">
            <a:spAutoFit/>
          </a:bodyPr>
          <a:lstStyle/>
          <a:p>
            <a:pPr algn="l" marL="0" indent="0" lvl="0">
              <a:lnSpc>
                <a:spcPts val="3809"/>
              </a:lnSpc>
            </a:pPr>
            <a:r>
              <a:rPr lang="en-US" sz="1523" spc="-97">
                <a:solidFill>
                  <a:srgbClr val="3A58E4"/>
                </a:solidFill>
                <a:latin typeface="Poppins"/>
                <a:ea typeface="Poppins"/>
                <a:cs typeface="Poppins"/>
                <a:sym typeface="Poppins"/>
              </a:rPr>
              <a:t>01</a:t>
            </a:r>
          </a:p>
          <a:p>
            <a:pPr algn="l" marL="0" indent="0" lvl="0">
              <a:lnSpc>
                <a:spcPts val="3809"/>
              </a:lnSpc>
            </a:pPr>
            <a:r>
              <a:rPr lang="en-US" sz="1523" spc="-97">
                <a:solidFill>
                  <a:srgbClr val="3A58E4"/>
                </a:solidFill>
                <a:latin typeface="Poppins"/>
                <a:ea typeface="Poppins"/>
                <a:cs typeface="Poppins"/>
                <a:sym typeface="Poppins"/>
              </a:rPr>
              <a:t>02</a:t>
            </a:r>
          </a:p>
          <a:p>
            <a:pPr algn="l" marL="0" indent="0" lvl="0">
              <a:lnSpc>
                <a:spcPts val="3809"/>
              </a:lnSpc>
            </a:pPr>
            <a:r>
              <a:rPr lang="en-US" sz="1523" spc="-97">
                <a:solidFill>
                  <a:srgbClr val="3A58E4"/>
                </a:solidFill>
                <a:latin typeface="Poppins"/>
                <a:ea typeface="Poppins"/>
                <a:cs typeface="Poppins"/>
                <a:sym typeface="Poppins"/>
              </a:rPr>
              <a:t>03</a:t>
            </a:r>
          </a:p>
          <a:p>
            <a:pPr algn="l" marL="0" indent="0" lvl="0">
              <a:lnSpc>
                <a:spcPts val="3809"/>
              </a:lnSpc>
            </a:pPr>
            <a:r>
              <a:rPr lang="en-US" sz="1523" spc="-97">
                <a:solidFill>
                  <a:srgbClr val="3A58E4"/>
                </a:solidFill>
                <a:latin typeface="Poppins"/>
                <a:ea typeface="Poppins"/>
                <a:cs typeface="Poppins"/>
                <a:sym typeface="Poppins"/>
              </a:rPr>
              <a:t>04</a:t>
            </a:r>
          </a:p>
          <a:p>
            <a:pPr algn="l" marL="0" indent="0" lvl="0">
              <a:lnSpc>
                <a:spcPts val="3809"/>
              </a:lnSpc>
            </a:pPr>
            <a:r>
              <a:rPr lang="en-US" sz="1523" spc="-97">
                <a:solidFill>
                  <a:srgbClr val="3A58E4"/>
                </a:solidFill>
                <a:latin typeface="Poppins"/>
                <a:ea typeface="Poppins"/>
                <a:cs typeface="Poppins"/>
                <a:sym typeface="Poppins"/>
              </a:rPr>
              <a:t>05</a:t>
            </a:r>
          </a:p>
        </p:txBody>
      </p:sp>
      <p:sp>
        <p:nvSpPr>
          <p:cNvPr name="TextBox 9" id="9"/>
          <p:cNvSpPr txBox="true"/>
          <p:nvPr/>
        </p:nvSpPr>
        <p:spPr>
          <a:xfrm rot="0">
            <a:off x="9452665" y="6255260"/>
            <a:ext cx="3625123" cy="2324054"/>
          </a:xfrm>
          <a:prstGeom prst="rect">
            <a:avLst/>
          </a:prstGeom>
        </p:spPr>
        <p:txBody>
          <a:bodyPr anchor="t" rtlCol="false" tIns="0" lIns="0" bIns="0" rIns="0">
            <a:spAutoFit/>
          </a:bodyPr>
          <a:lstStyle/>
          <a:p>
            <a:pPr algn="l" marL="0" indent="0" lvl="0">
              <a:lnSpc>
                <a:spcPts val="3809"/>
              </a:lnSpc>
            </a:pPr>
            <a:r>
              <a:rPr lang="en-US" sz="1523" spc="-97">
                <a:solidFill>
                  <a:srgbClr val="3A58E4"/>
                </a:solidFill>
                <a:latin typeface="Poppins"/>
                <a:ea typeface="Poppins"/>
                <a:cs typeface="Poppins"/>
                <a:sym typeface="Poppins"/>
              </a:rPr>
              <a:t>Nhược: Chi phí license, vendor</a:t>
            </a:r>
          </a:p>
          <a:p>
            <a:pPr algn="l" marL="0" indent="0" lvl="0">
              <a:lnSpc>
                <a:spcPts val="3809"/>
              </a:lnSpc>
            </a:pPr>
            <a:r>
              <a:rPr lang="en-US" sz="1523" spc="-97">
                <a:solidFill>
                  <a:srgbClr val="3A58E4"/>
                </a:solidFill>
                <a:latin typeface="Poppins"/>
                <a:ea typeface="Poppins"/>
                <a:cs typeface="Poppins"/>
                <a:sym typeface="Poppins"/>
              </a:rPr>
              <a:t>HA Proxy</a:t>
            </a:r>
          </a:p>
          <a:p>
            <a:pPr algn="l" marL="0" indent="0" lvl="0">
              <a:lnSpc>
                <a:spcPts val="3809"/>
              </a:lnSpc>
            </a:pPr>
            <a:r>
              <a:rPr lang="en-US" sz="1523" spc="-97">
                <a:solidFill>
                  <a:srgbClr val="3A58E4"/>
                </a:solidFill>
                <a:latin typeface="Poppins"/>
                <a:ea typeface="Poppins"/>
                <a:cs typeface="Poppins"/>
                <a:sym typeface="Poppins"/>
              </a:rPr>
              <a:t>Ưu: Open source, linh hoạt</a:t>
            </a:r>
          </a:p>
          <a:p>
            <a:pPr algn="l" marL="0" indent="0" lvl="0">
              <a:lnSpc>
                <a:spcPts val="3809"/>
              </a:lnSpc>
            </a:pPr>
            <a:r>
              <a:rPr lang="en-US" sz="1523" spc="-97">
                <a:solidFill>
                  <a:srgbClr val="3A58E4"/>
                </a:solidFill>
                <a:latin typeface="Poppins"/>
                <a:ea typeface="Poppins"/>
                <a:cs typeface="Poppins"/>
                <a:sym typeface="Poppins"/>
              </a:rPr>
              <a:t>Nhược: Learning curve cao</a:t>
            </a:r>
          </a:p>
          <a:p>
            <a:pPr algn="l" marL="0" indent="0" lvl="0">
              <a:lnSpc>
                <a:spcPts val="3809"/>
              </a:lnSpc>
            </a:pPr>
            <a:r>
              <a:rPr lang="en-US" sz="1523" spc="-97">
                <a:solidFill>
                  <a:srgbClr val="3A58E4"/>
                </a:solidFill>
                <a:latin typeface="Poppins"/>
                <a:ea typeface="Poppins"/>
                <a:cs typeface="Poppins"/>
                <a:sym typeface="Poppins"/>
              </a:rPr>
              <a:t>Envoy: Cloud-native, phức tạp</a:t>
            </a:r>
          </a:p>
        </p:txBody>
      </p:sp>
      <p:sp>
        <p:nvSpPr>
          <p:cNvPr name="AutoShape 10" id="10"/>
          <p:cNvSpPr/>
          <p:nvPr/>
        </p:nvSpPr>
        <p:spPr>
          <a:xfrm flipV="true">
            <a:off x="12399512" y="5233301"/>
            <a:ext cx="4174552" cy="0"/>
          </a:xfrm>
          <a:prstGeom prst="line">
            <a:avLst/>
          </a:prstGeom>
          <a:ln cap="rnd" w="9525">
            <a:solidFill>
              <a:srgbClr val="3A58E4"/>
            </a:solidFill>
            <a:prstDash val="solid"/>
            <a:headEnd type="none" len="sm" w="sm"/>
            <a:tailEnd type="none" len="sm" w="sm"/>
          </a:ln>
        </p:spPr>
      </p:sp>
      <p:sp>
        <p:nvSpPr>
          <p:cNvPr name="AutoShape 11" id="11"/>
          <p:cNvSpPr/>
          <p:nvPr/>
        </p:nvSpPr>
        <p:spPr>
          <a:xfrm flipV="true">
            <a:off x="13077788" y="6026742"/>
            <a:ext cx="3496276" cy="0"/>
          </a:xfrm>
          <a:prstGeom prst="line">
            <a:avLst/>
          </a:prstGeom>
          <a:ln cap="rnd" w="9525">
            <a:solidFill>
              <a:srgbClr val="3A58E4"/>
            </a:solidFill>
            <a:prstDash val="solid"/>
            <a:headEnd type="none" len="sm" w="sm"/>
            <a:tailEnd type="none" len="sm" w="sm"/>
          </a:ln>
        </p:spPr>
      </p:sp>
      <p:sp>
        <p:nvSpPr>
          <p:cNvPr name="AutoShape 12" id="12"/>
          <p:cNvSpPr/>
          <p:nvPr/>
        </p:nvSpPr>
        <p:spPr>
          <a:xfrm>
            <a:off x="12714894" y="6820183"/>
            <a:ext cx="3859170" cy="0"/>
          </a:xfrm>
          <a:prstGeom prst="line">
            <a:avLst/>
          </a:prstGeom>
          <a:ln cap="rnd" w="9525">
            <a:solidFill>
              <a:srgbClr val="3A58E4"/>
            </a:solidFill>
            <a:prstDash val="solid"/>
            <a:headEnd type="none" len="sm" w="sm"/>
            <a:tailEnd type="none" len="sm" w="sm"/>
          </a:ln>
        </p:spPr>
      </p:sp>
      <p:sp>
        <p:nvSpPr>
          <p:cNvPr name="AutoShape 13" id="13"/>
          <p:cNvSpPr/>
          <p:nvPr/>
        </p:nvSpPr>
        <p:spPr>
          <a:xfrm>
            <a:off x="11908397" y="7611677"/>
            <a:ext cx="4665667" cy="0"/>
          </a:xfrm>
          <a:prstGeom prst="line">
            <a:avLst/>
          </a:prstGeom>
          <a:ln cap="rnd" w="9525">
            <a:solidFill>
              <a:srgbClr val="3A58E4"/>
            </a:solidFill>
            <a:prstDash val="solid"/>
            <a:headEnd type="none" len="sm" w="sm"/>
            <a:tailEnd type="none" len="sm" w="sm"/>
          </a:ln>
        </p:spPr>
      </p:sp>
      <p:sp>
        <p:nvSpPr>
          <p:cNvPr name="AutoShape 14" id="14"/>
          <p:cNvSpPr/>
          <p:nvPr/>
        </p:nvSpPr>
        <p:spPr>
          <a:xfrm>
            <a:off x="13077788" y="8403541"/>
            <a:ext cx="3496276" cy="0"/>
          </a:xfrm>
          <a:prstGeom prst="line">
            <a:avLst/>
          </a:prstGeom>
          <a:ln cap="rnd" w="9525">
            <a:solidFill>
              <a:srgbClr val="3A58E4"/>
            </a:solidFill>
            <a:prstDash val="solid"/>
            <a:headEnd type="none" len="sm" w="sm"/>
            <a:tailEnd type="none" len="sm" w="sm"/>
          </a:ln>
        </p:spPr>
      </p:sp>
      <p:sp>
        <p:nvSpPr>
          <p:cNvPr name="TextBox 15" id="15"/>
          <p:cNvSpPr txBox="true"/>
          <p:nvPr/>
        </p:nvSpPr>
        <p:spPr>
          <a:xfrm rot="0">
            <a:off x="16794008" y="6255260"/>
            <a:ext cx="560327" cy="2324054"/>
          </a:xfrm>
          <a:prstGeom prst="rect">
            <a:avLst/>
          </a:prstGeom>
        </p:spPr>
        <p:txBody>
          <a:bodyPr anchor="t" rtlCol="false" tIns="0" lIns="0" bIns="0" rIns="0">
            <a:spAutoFit/>
          </a:bodyPr>
          <a:lstStyle/>
          <a:p>
            <a:pPr algn="l" marL="0" indent="0" lvl="0">
              <a:lnSpc>
                <a:spcPts val="3809"/>
              </a:lnSpc>
            </a:pPr>
            <a:r>
              <a:rPr lang="en-US" sz="1523" spc="-97">
                <a:solidFill>
                  <a:srgbClr val="3A58E4"/>
                </a:solidFill>
                <a:latin typeface="Poppins"/>
                <a:ea typeface="Poppins"/>
                <a:cs typeface="Poppins"/>
                <a:sym typeface="Poppins"/>
              </a:rPr>
              <a:t>06</a:t>
            </a:r>
          </a:p>
          <a:p>
            <a:pPr algn="l" marL="0" indent="0" lvl="0">
              <a:lnSpc>
                <a:spcPts val="3809"/>
              </a:lnSpc>
            </a:pPr>
            <a:r>
              <a:rPr lang="en-US" sz="1523" spc="-97">
                <a:solidFill>
                  <a:srgbClr val="3A58E4"/>
                </a:solidFill>
                <a:latin typeface="Poppins"/>
                <a:ea typeface="Poppins"/>
                <a:cs typeface="Poppins"/>
                <a:sym typeface="Poppins"/>
              </a:rPr>
              <a:t>07</a:t>
            </a:r>
          </a:p>
          <a:p>
            <a:pPr algn="l" marL="0" indent="0" lvl="0">
              <a:lnSpc>
                <a:spcPts val="3809"/>
              </a:lnSpc>
            </a:pPr>
            <a:r>
              <a:rPr lang="en-US" sz="1523" spc="-97">
                <a:solidFill>
                  <a:srgbClr val="3A58E4"/>
                </a:solidFill>
                <a:latin typeface="Poppins"/>
                <a:ea typeface="Poppins"/>
                <a:cs typeface="Poppins"/>
                <a:sym typeface="Poppins"/>
              </a:rPr>
              <a:t>08</a:t>
            </a:r>
          </a:p>
          <a:p>
            <a:pPr algn="l" marL="0" indent="0" lvl="0">
              <a:lnSpc>
                <a:spcPts val="3809"/>
              </a:lnSpc>
            </a:pPr>
            <a:r>
              <a:rPr lang="en-US" sz="1523" spc="-97">
                <a:solidFill>
                  <a:srgbClr val="3A58E4"/>
                </a:solidFill>
                <a:latin typeface="Poppins"/>
                <a:ea typeface="Poppins"/>
                <a:cs typeface="Poppins"/>
                <a:sym typeface="Poppins"/>
              </a:rPr>
              <a:t>09</a:t>
            </a:r>
          </a:p>
          <a:p>
            <a:pPr algn="l" marL="0" indent="0" lvl="0">
              <a:lnSpc>
                <a:spcPts val="3809"/>
              </a:lnSpc>
            </a:pPr>
            <a:r>
              <a:rPr lang="en-US" sz="1523" spc="-97">
                <a:solidFill>
                  <a:srgbClr val="3A58E4"/>
                </a:solidFill>
                <a:latin typeface="Poppins"/>
                <a:ea typeface="Poppins"/>
                <a:cs typeface="Poppins"/>
                <a:sym typeface="Poppins"/>
              </a:rPr>
              <a:t>10</a:t>
            </a:r>
          </a:p>
        </p:txBody>
      </p:sp>
      <p:grpSp>
        <p:nvGrpSpPr>
          <p:cNvPr name="Group 16" id="16"/>
          <p:cNvGrpSpPr/>
          <p:nvPr/>
        </p:nvGrpSpPr>
        <p:grpSpPr>
          <a:xfrm rot="0">
            <a:off x="4208579" y="3311917"/>
            <a:ext cx="9870843" cy="379246"/>
            <a:chOff x="0" y="0"/>
            <a:chExt cx="13161124" cy="505662"/>
          </a:xfrm>
        </p:grpSpPr>
        <p:sp>
          <p:nvSpPr>
            <p:cNvPr name="TextBox 17" id="17"/>
            <p:cNvSpPr txBox="true"/>
            <p:nvPr/>
          </p:nvSpPr>
          <p:spPr>
            <a:xfrm rot="0">
              <a:off x="0" y="180520"/>
              <a:ext cx="13021857" cy="325141"/>
            </a:xfrm>
            <a:prstGeom prst="rect">
              <a:avLst/>
            </a:prstGeom>
          </p:spPr>
          <p:txBody>
            <a:bodyPr anchor="t" rtlCol="false" tIns="0" lIns="0" bIns="0" rIns="0">
              <a:spAutoFit/>
            </a:bodyPr>
            <a:lstStyle/>
            <a:p>
              <a:pPr algn="l" marL="0" indent="0" lvl="0">
                <a:lnSpc>
                  <a:spcPts val="2013"/>
                </a:lnSpc>
              </a:pPr>
              <a:r>
                <a:rPr lang="en-US" sz="1438" spc="-35">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Phân tích chi tiết điểm mạnh và điểm yếu của từng giải pháp Ingress Controller</a:t>
              </a:r>
            </a:p>
          </p:txBody>
        </p:sp>
        <p:sp>
          <p:nvSpPr>
            <p:cNvPr name="Freeform 18" id="18"/>
            <p:cNvSpPr/>
            <p:nvPr/>
          </p:nvSpPr>
          <p:spPr>
            <a:xfrm flipH="false" flipV="false" rot="-8687136">
              <a:off x="12844104"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AutoShape 19" id="19"/>
          <p:cNvSpPr/>
          <p:nvPr/>
        </p:nvSpPr>
        <p:spPr>
          <a:xfrm>
            <a:off x="4208579" y="3853088"/>
            <a:ext cx="9870843" cy="0"/>
          </a:xfrm>
          <a:prstGeom prst="line">
            <a:avLst/>
          </a:prstGeom>
          <a:ln cap="rnd" w="19050">
            <a:solidFill>
              <a:srgbClr val="3A58E4"/>
            </a:solidFill>
            <a:prstDash val="solid"/>
            <a:headEnd type="none" len="sm" w="sm"/>
            <a:tailEnd type="none" len="sm" w="sm"/>
          </a:ln>
        </p:spPr>
      </p:sp>
      <p:sp>
        <p:nvSpPr>
          <p:cNvPr name="TextBox 20" id="20"/>
          <p:cNvSpPr txBox="true"/>
          <p:nvPr/>
        </p:nvSpPr>
        <p:spPr>
          <a:xfrm rot="0">
            <a:off x="3626085" y="1190676"/>
            <a:ext cx="11035829" cy="1723646"/>
          </a:xfrm>
          <a:prstGeom prst="rect">
            <a:avLst/>
          </a:prstGeom>
        </p:spPr>
        <p:txBody>
          <a:bodyPr anchor="t" rtlCol="false" tIns="0" lIns="0" bIns="0" rIns="0">
            <a:spAutoFit/>
          </a:bodyPr>
          <a:lstStyle/>
          <a:p>
            <a:pPr algn="ctr" marL="0" indent="0" lvl="0">
              <a:lnSpc>
                <a:spcPts val="6668"/>
              </a:lnSpc>
            </a:pPr>
            <a:r>
              <a:rPr lang="en-US" sz="6804" spc="-435">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So sánh Công nghệ - Ưu nhược điểm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87052"/>
            <a:ext cx="1849954" cy="1661115"/>
            <a:chOff x="0" y="0"/>
            <a:chExt cx="2466605" cy="2214820"/>
          </a:xfrm>
        </p:grpSpPr>
        <p:grpSp>
          <p:nvGrpSpPr>
            <p:cNvPr name="Group 3" id="3"/>
            <p:cNvGrpSpPr/>
            <p:nvPr/>
          </p:nvGrpSpPr>
          <p:grpSpPr>
            <a:xfrm rot="0">
              <a:off x="0" y="0"/>
              <a:ext cx="2466605" cy="2214820"/>
              <a:chOff x="0" y="0"/>
              <a:chExt cx="787566" cy="707173"/>
            </a:xfrm>
          </p:grpSpPr>
          <p:sp>
            <p:nvSpPr>
              <p:cNvPr name="Freeform 4" id="4"/>
              <p:cNvSpPr/>
              <p:nvPr/>
            </p:nvSpPr>
            <p:spPr>
              <a:xfrm flipH="false" flipV="false" rot="0">
                <a:off x="0" y="0"/>
                <a:ext cx="787566" cy="707173"/>
              </a:xfrm>
              <a:custGeom>
                <a:avLst/>
                <a:gdLst/>
                <a:ahLst/>
                <a:cxnLst/>
                <a:rect r="r" b="b" t="t" l="l"/>
                <a:pathLst>
                  <a:path h="707173" w="787566">
                    <a:moveTo>
                      <a:pt x="0" y="0"/>
                    </a:moveTo>
                    <a:lnTo>
                      <a:pt x="787566" y="0"/>
                    </a:lnTo>
                    <a:lnTo>
                      <a:pt x="787566" y="707173"/>
                    </a:lnTo>
                    <a:lnTo>
                      <a:pt x="0" y="70717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452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74999"/>
              <a:ext cx="1828278" cy="969597"/>
            </a:xfrm>
            <a:prstGeom prst="rect">
              <a:avLst/>
            </a:prstGeom>
          </p:spPr>
          <p:txBody>
            <a:bodyPr anchor="t" rtlCol="false" tIns="0" lIns="0" bIns="0" rIns="0">
              <a:spAutoFit/>
            </a:bodyPr>
            <a:lstStyle/>
            <a:p>
              <a:pPr algn="ctr" marL="0" indent="0" lvl="0">
                <a:lnSpc>
                  <a:spcPts val="5210"/>
                </a:lnSpc>
              </a:pPr>
              <a:r>
                <a:rPr lang="en-US" sz="5316" spc="-340">
                  <a:solidFill>
                    <a:srgbClr val="FFFFFF"/>
                  </a:solidFill>
                  <a:latin typeface="Bricolage Grotesque"/>
                  <a:ea typeface="Bricolage Grotesque"/>
                  <a:cs typeface="Bricolage Grotesque"/>
                  <a:sym typeface="Bricolage Grotesque"/>
                </a:rPr>
                <a:t>07</a:t>
              </a:r>
            </a:p>
          </p:txBody>
        </p:sp>
      </p:grpSp>
      <p:sp>
        <p:nvSpPr>
          <p:cNvPr name="TextBox 7" id="7"/>
          <p:cNvSpPr txBox="true"/>
          <p:nvPr/>
        </p:nvSpPr>
        <p:spPr>
          <a:xfrm rot="0">
            <a:off x="9144000" y="5795383"/>
            <a:ext cx="6563388" cy="2987365"/>
          </a:xfrm>
          <a:prstGeom prst="rect">
            <a:avLst/>
          </a:prstGeom>
        </p:spPr>
        <p:txBody>
          <a:bodyPr anchor="t" rtlCol="false" tIns="0" lIns="0" bIns="0" rIns="0">
            <a:spAutoFit/>
          </a:bodyPr>
          <a:lstStyle/>
          <a:p>
            <a:pPr algn="just" marL="0" indent="0" lvl="0">
              <a:lnSpc>
                <a:spcPts val="2666"/>
              </a:lnSpc>
            </a:pPr>
            <a:r>
              <a:rPr lang="en-US" sz="1904" spc="-5">
                <a:solidFill>
                  <a:srgbClr val="3A58E4"/>
                </a:solidFill>
                <a:latin typeface="Poppins"/>
                <a:ea typeface="Poppins"/>
                <a:cs typeface="Poppins"/>
                <a:sym typeface="Poppins"/>
              </a:rPr>
              <a:t>F5 NGINX Plus mang đến giải pháp toàn diện cho doanh nghiệp với hiệu năng vượt trội, khả năng xử lý hàng triệu request/giây mà vẫn duy trì độ trễ thấp. Tính năng bảo mật tích hợp sẵn giúp đáp ứng các tiêu chuẩn ngành như PCI-DSS, SOC2. Đội ngũ hỗ trợ kỹ thuật chuyên nghiệp 24/7 với SLA cam kết rõ ràng giúp giảm thiểu thời gian xử lý sự cố. Tổng chi phí sở hữu (TCO) được tối ưu nhờ giảm downtime, giảm công sức vận hành và tăng hiệu quả hoạt động hệ thống.</a:t>
            </a:r>
          </a:p>
        </p:txBody>
      </p:sp>
      <p:grpSp>
        <p:nvGrpSpPr>
          <p:cNvPr name="Group 8" id="8"/>
          <p:cNvGrpSpPr/>
          <p:nvPr/>
        </p:nvGrpSpPr>
        <p:grpSpPr>
          <a:xfrm rot="0">
            <a:off x="9144000" y="1783947"/>
            <a:ext cx="40440" cy="1732806"/>
            <a:chOff x="0" y="0"/>
            <a:chExt cx="12543" cy="537460"/>
          </a:xfrm>
        </p:grpSpPr>
        <p:sp>
          <p:nvSpPr>
            <p:cNvPr name="Freeform 9" id="9"/>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10" id="10"/>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9144000" y="4074029"/>
            <a:ext cx="6563388" cy="360869"/>
            <a:chOff x="0" y="0"/>
            <a:chExt cx="8751183" cy="481159"/>
          </a:xfrm>
        </p:grpSpPr>
        <p:sp>
          <p:nvSpPr>
            <p:cNvPr name="TextBox 12" id="12"/>
            <p:cNvSpPr txBox="true"/>
            <p:nvPr/>
          </p:nvSpPr>
          <p:spPr>
            <a:xfrm rot="0">
              <a:off x="0" y="120891"/>
              <a:ext cx="8507297" cy="360268"/>
            </a:xfrm>
            <a:prstGeom prst="rect">
              <a:avLst/>
            </a:prstGeom>
          </p:spPr>
          <p:txBody>
            <a:bodyPr anchor="t" rtlCol="false" tIns="0" lIns="0" bIns="0" rIns="0">
              <a:spAutoFit/>
            </a:bodyPr>
            <a:lstStyle/>
            <a:p>
              <a:pPr algn="just" marL="0" indent="0" lvl="0">
                <a:lnSpc>
                  <a:spcPts val="2284"/>
                </a:lnSpc>
              </a:pPr>
              <a:r>
                <a:rPr lang="en-US" b="true" sz="1632" spc="-40">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GIẢI PHÁP ENTERPRISE ĐÁNG TIN CẬY CHO HẠ TẦNG KUBERNETES</a:t>
              </a:r>
            </a:p>
          </p:txBody>
        </p:sp>
        <p:sp>
          <p:nvSpPr>
            <p:cNvPr name="Freeform 13" id="13"/>
            <p:cNvSpPr/>
            <p:nvPr/>
          </p:nvSpPr>
          <p:spPr>
            <a:xfrm flipH="false" flipV="false" rot="-8687136">
              <a:off x="8481990" y="38058"/>
              <a:ext cx="214153" cy="258866"/>
            </a:xfrm>
            <a:custGeom>
              <a:avLst/>
              <a:gdLst/>
              <a:ahLst/>
              <a:cxnLst/>
              <a:rect r="r" b="b" t="t" l="l"/>
              <a:pathLst>
                <a:path h="258866" w="214153">
                  <a:moveTo>
                    <a:pt x="0" y="0"/>
                  </a:moveTo>
                  <a:lnTo>
                    <a:pt x="214153" y="0"/>
                  </a:lnTo>
                  <a:lnTo>
                    <a:pt x="214153" y="258866"/>
                  </a:lnTo>
                  <a:lnTo>
                    <a:pt x="0" y="2588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4" id="14"/>
          <p:cNvSpPr txBox="true"/>
          <p:nvPr/>
        </p:nvSpPr>
        <p:spPr>
          <a:xfrm rot="0">
            <a:off x="9337659" y="1675865"/>
            <a:ext cx="4908339" cy="2120583"/>
          </a:xfrm>
          <a:prstGeom prst="rect">
            <a:avLst/>
          </a:prstGeom>
        </p:spPr>
        <p:txBody>
          <a:bodyPr anchor="t" rtlCol="false" tIns="0" lIns="0" bIns="0" rIns="0">
            <a:spAutoFit/>
          </a:bodyPr>
          <a:lstStyle/>
          <a:p>
            <a:pPr algn="l" marL="0" indent="0" lvl="0">
              <a:lnSpc>
                <a:spcPts val="8148"/>
              </a:lnSpc>
            </a:pPr>
            <a:r>
              <a:rPr lang="en-US" sz="8314" spc="-53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Lợi ích Kinh doanh</a:t>
            </a:r>
          </a:p>
        </p:txBody>
      </p:sp>
      <p:grpSp>
        <p:nvGrpSpPr>
          <p:cNvPr name="Group 15" id="15"/>
          <p:cNvGrpSpPr/>
          <p:nvPr/>
        </p:nvGrpSpPr>
        <p:grpSpPr>
          <a:xfrm rot="0">
            <a:off x="1664564" y="1504251"/>
            <a:ext cx="6376039" cy="1593100"/>
            <a:chOff x="0" y="0"/>
            <a:chExt cx="2754311" cy="688185"/>
          </a:xfrm>
        </p:grpSpPr>
        <p:sp>
          <p:nvSpPr>
            <p:cNvPr name="Freeform 16" id="16"/>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8" id="18"/>
          <p:cNvGrpSpPr/>
          <p:nvPr/>
        </p:nvGrpSpPr>
        <p:grpSpPr>
          <a:xfrm rot="0">
            <a:off x="2288087" y="1821243"/>
            <a:ext cx="5128994" cy="904893"/>
            <a:chOff x="0" y="0"/>
            <a:chExt cx="6838659" cy="1206524"/>
          </a:xfrm>
        </p:grpSpPr>
        <p:sp>
          <p:nvSpPr>
            <p:cNvPr name="TextBox 19" id="19"/>
            <p:cNvSpPr txBox="true"/>
            <p:nvPr/>
          </p:nvSpPr>
          <p:spPr>
            <a:xfrm rot="0">
              <a:off x="1589864" y="-66675"/>
              <a:ext cx="4202931" cy="432859"/>
            </a:xfrm>
            <a:prstGeom prst="rect">
              <a:avLst/>
            </a:prstGeom>
          </p:spPr>
          <p:txBody>
            <a:bodyPr anchor="t" rtlCol="false" tIns="0" lIns="0" bIns="0" rIns="0">
              <a:spAutoFit/>
            </a:bodyPr>
            <a:lstStyle/>
            <a:p>
              <a:pPr algn="just" marL="0" indent="0" lvl="0">
                <a:lnSpc>
                  <a:spcPts val="2753"/>
                </a:lnSpc>
              </a:pPr>
              <a:r>
                <a:rPr lang="en-US" b="true" sz="1811">
                  <a:solidFill>
                    <a:srgbClr val="FFFFFF"/>
                  </a:solidFill>
                  <a:latin typeface="Poppins Bold"/>
                  <a:ea typeface="Poppins Bold"/>
                  <a:cs typeface="Poppins Bold"/>
                  <a:sym typeface="Poppins Bold"/>
                </a:rPr>
                <a:t>Hiệu năng Vượt trội</a:t>
              </a:r>
            </a:p>
          </p:txBody>
        </p:sp>
        <p:sp>
          <p:nvSpPr>
            <p:cNvPr name="TextBox 20" id="20"/>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solidFill>
                    <a:srgbClr val="FFFFFF"/>
                  </a:solidFill>
                  <a:latin typeface="Poppins"/>
                  <a:ea typeface="Poppins"/>
                  <a:cs typeface="Poppins"/>
                  <a:sym typeface="Poppins"/>
                </a:rPr>
                <a:t>Xử lý hàng triệu request/giây, độ trễ thấp, giảm downtime đáng kể.</a:t>
              </a:r>
            </a:p>
          </p:txBody>
        </p:sp>
        <p:sp>
          <p:nvSpPr>
            <p:cNvPr name="TextBox 21" id="21"/>
            <p:cNvSpPr txBox="true"/>
            <p:nvPr/>
          </p:nvSpPr>
          <p:spPr>
            <a:xfrm rot="0">
              <a:off x="0" y="225715"/>
              <a:ext cx="1165955" cy="931982"/>
            </a:xfrm>
            <a:prstGeom prst="rect">
              <a:avLst/>
            </a:prstGeom>
          </p:spPr>
          <p:txBody>
            <a:bodyPr anchor="t" rtlCol="false" tIns="0" lIns="0" bIns="0" rIns="0">
              <a:spAutoFit/>
            </a:bodyPr>
            <a:lstStyle/>
            <a:p>
              <a:pPr algn="l" marL="0" indent="0" lvl="0">
                <a:lnSpc>
                  <a:spcPts val="4642"/>
                </a:lnSpc>
              </a:pPr>
              <a:r>
                <a:rPr lang="en-US" sz="5158" spc="-154">
                  <a:solidFill>
                    <a:srgbClr val="FFFFFF"/>
                  </a:solidFill>
                  <a:latin typeface="Poppins"/>
                  <a:ea typeface="Poppins"/>
                  <a:cs typeface="Poppins"/>
                  <a:sym typeface="Poppins"/>
                </a:rPr>
                <a:t>01</a:t>
              </a:r>
            </a:p>
          </p:txBody>
        </p:sp>
      </p:grpSp>
      <p:grpSp>
        <p:nvGrpSpPr>
          <p:cNvPr name="Group 22" id="22"/>
          <p:cNvGrpSpPr/>
          <p:nvPr/>
        </p:nvGrpSpPr>
        <p:grpSpPr>
          <a:xfrm rot="0">
            <a:off x="1664564" y="3400724"/>
            <a:ext cx="6376039" cy="1593100"/>
            <a:chOff x="0" y="0"/>
            <a:chExt cx="2754311" cy="688185"/>
          </a:xfrm>
        </p:grpSpPr>
        <p:sp>
          <p:nvSpPr>
            <p:cNvPr name="Freeform 23" id="23"/>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24" id="24"/>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5" id="25"/>
          <p:cNvGrpSpPr/>
          <p:nvPr/>
        </p:nvGrpSpPr>
        <p:grpSpPr>
          <a:xfrm rot="0">
            <a:off x="2288087" y="3734859"/>
            <a:ext cx="5128994" cy="905806"/>
            <a:chOff x="0" y="0"/>
            <a:chExt cx="6838659" cy="1207741"/>
          </a:xfrm>
        </p:grpSpPr>
        <p:sp>
          <p:nvSpPr>
            <p:cNvPr name="TextBox 26" id="26"/>
            <p:cNvSpPr txBox="true"/>
            <p:nvPr/>
          </p:nvSpPr>
          <p:spPr>
            <a:xfrm rot="0">
              <a:off x="1589864" y="-66675"/>
              <a:ext cx="4202931" cy="432859"/>
            </a:xfrm>
            <a:prstGeom prst="rect">
              <a:avLst/>
            </a:prstGeom>
          </p:spPr>
          <p:txBody>
            <a:bodyPr anchor="t" rtlCol="false" tIns="0" lIns="0" bIns="0" rIns="0">
              <a:spAutoFit/>
            </a:bodyPr>
            <a:lstStyle/>
            <a:p>
              <a:pPr algn="just" marL="0" indent="0" lvl="0">
                <a:lnSpc>
                  <a:spcPts val="2753"/>
                </a:lnSpc>
              </a:pPr>
              <a:r>
                <a:rPr lang="en-US" b="true" sz="1811">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Bảo mật Nâng cao</a:t>
              </a:r>
            </a:p>
          </p:txBody>
        </p:sp>
        <p:sp>
          <p:nvSpPr>
            <p:cNvPr name="TextBox 27" id="27"/>
            <p:cNvSpPr txBox="true"/>
            <p:nvPr/>
          </p:nvSpPr>
          <p:spPr>
            <a:xfrm rot="0">
              <a:off x="1589864" y="534605"/>
              <a:ext cx="5248795" cy="673136"/>
            </a:xfrm>
            <a:prstGeom prst="rect">
              <a:avLst/>
            </a:prstGeom>
          </p:spPr>
          <p:txBody>
            <a:bodyPr anchor="t" rtlCol="false" tIns="0" lIns="0" bIns="0" rIns="0">
              <a:spAutoFit/>
            </a:bodyPr>
            <a:lstStyle/>
            <a:p>
              <a:pPr algn="just" marL="0" indent="0" lvl="0">
                <a:lnSpc>
                  <a:spcPts val="2098"/>
                </a:lnSpc>
              </a:pPr>
              <a:r>
                <a:rPr lang="en-US" sz="1498">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Đáp ứng chuẩn PCI-DSS, SOC2, tích hợp WAF và SSL/TLS enterprise.</a:t>
              </a:r>
            </a:p>
          </p:txBody>
        </p:sp>
        <p:sp>
          <p:nvSpPr>
            <p:cNvPr name="TextBox 28" id="28"/>
            <p:cNvSpPr txBox="true"/>
            <p:nvPr/>
          </p:nvSpPr>
          <p:spPr>
            <a:xfrm rot="0">
              <a:off x="0" y="189549"/>
              <a:ext cx="1165955" cy="931982"/>
            </a:xfrm>
            <a:prstGeom prst="rect">
              <a:avLst/>
            </a:prstGeom>
          </p:spPr>
          <p:txBody>
            <a:bodyPr anchor="t" rtlCol="false" tIns="0" lIns="0" bIns="0" rIns="0">
              <a:spAutoFit/>
            </a:bodyPr>
            <a:lstStyle/>
            <a:p>
              <a:pPr algn="l" marL="0" indent="0" lvl="0">
                <a:lnSpc>
                  <a:spcPts val="4642"/>
                </a:lnSpc>
              </a:pPr>
              <a:r>
                <a:rPr lang="en-US" sz="5158" spc="-154">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29" id="29"/>
          <p:cNvGrpSpPr/>
          <p:nvPr/>
        </p:nvGrpSpPr>
        <p:grpSpPr>
          <a:xfrm rot="0">
            <a:off x="1664564" y="5293177"/>
            <a:ext cx="6376039" cy="1593100"/>
            <a:chOff x="0" y="0"/>
            <a:chExt cx="2754311" cy="688185"/>
          </a:xfrm>
        </p:grpSpPr>
        <p:sp>
          <p:nvSpPr>
            <p:cNvPr name="Freeform 30" id="30"/>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31" id="31"/>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0">
            <a:off x="2288087" y="5639303"/>
            <a:ext cx="5128994" cy="904893"/>
            <a:chOff x="0" y="0"/>
            <a:chExt cx="6838659" cy="1206524"/>
          </a:xfrm>
        </p:grpSpPr>
        <p:sp>
          <p:nvSpPr>
            <p:cNvPr name="TextBox 33" id="33"/>
            <p:cNvSpPr txBox="true"/>
            <p:nvPr/>
          </p:nvSpPr>
          <p:spPr>
            <a:xfrm rot="0">
              <a:off x="1589864" y="-66675"/>
              <a:ext cx="4202931" cy="432859"/>
            </a:xfrm>
            <a:prstGeom prst="rect">
              <a:avLst/>
            </a:prstGeom>
          </p:spPr>
          <p:txBody>
            <a:bodyPr anchor="t" rtlCol="false" tIns="0" lIns="0" bIns="0" rIns="0">
              <a:spAutoFit/>
            </a:bodyPr>
            <a:lstStyle/>
            <a:p>
              <a:pPr algn="just" marL="0" indent="0" lvl="0">
                <a:lnSpc>
                  <a:spcPts val="2753"/>
                </a:lnSpc>
              </a:pPr>
              <a:r>
                <a:rPr lang="en-US" b="true" sz="1811">
                  <a:solidFill>
                    <a:srgbClr val="FFFFFF"/>
                  </a:solidFill>
                  <a:latin typeface="Poppins Bold"/>
                  <a:ea typeface="Poppins Bold"/>
                  <a:cs typeface="Poppins Bold"/>
                  <a:sym typeface="Poppins Bold"/>
                </a:rPr>
                <a:t>Hỗ trợ 24/7 với SLA</a:t>
              </a:r>
            </a:p>
          </p:txBody>
        </p:sp>
        <p:sp>
          <p:nvSpPr>
            <p:cNvPr name="TextBox 34" id="34"/>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solidFill>
                    <a:srgbClr val="FFFFFF"/>
                  </a:solidFill>
                  <a:latin typeface="Poppins"/>
                  <a:ea typeface="Poppins"/>
                  <a:cs typeface="Poppins"/>
                  <a:sym typeface="Poppins"/>
                </a:rPr>
                <a:t>Đội ngũ chuyên gia F5 hỗ trợ kỹ thuật liên tục với cam kết SLA rõ ràng.</a:t>
              </a:r>
            </a:p>
          </p:txBody>
        </p:sp>
        <p:sp>
          <p:nvSpPr>
            <p:cNvPr name="TextBox 35" id="35"/>
            <p:cNvSpPr txBox="true"/>
            <p:nvPr/>
          </p:nvSpPr>
          <p:spPr>
            <a:xfrm rot="0">
              <a:off x="0" y="231775"/>
              <a:ext cx="1165955" cy="931982"/>
            </a:xfrm>
            <a:prstGeom prst="rect">
              <a:avLst/>
            </a:prstGeom>
          </p:spPr>
          <p:txBody>
            <a:bodyPr anchor="t" rtlCol="false" tIns="0" lIns="0" bIns="0" rIns="0">
              <a:spAutoFit/>
            </a:bodyPr>
            <a:lstStyle/>
            <a:p>
              <a:pPr algn="l" marL="0" indent="0" lvl="0">
                <a:lnSpc>
                  <a:spcPts val="4642"/>
                </a:lnSpc>
              </a:pPr>
              <a:r>
                <a:rPr lang="en-US" sz="5158" spc="-154">
                  <a:solidFill>
                    <a:srgbClr val="FFFFFF"/>
                  </a:solidFill>
                  <a:latin typeface="Poppins"/>
                  <a:ea typeface="Poppins"/>
                  <a:cs typeface="Poppins"/>
                  <a:sym typeface="Poppins"/>
                </a:rPr>
                <a:t>03</a:t>
              </a:r>
            </a:p>
          </p:txBody>
        </p:sp>
      </p:grpSp>
      <p:grpSp>
        <p:nvGrpSpPr>
          <p:cNvPr name="Group 36" id="36"/>
          <p:cNvGrpSpPr/>
          <p:nvPr/>
        </p:nvGrpSpPr>
        <p:grpSpPr>
          <a:xfrm rot="0">
            <a:off x="1664564" y="7189649"/>
            <a:ext cx="6376039" cy="1593100"/>
            <a:chOff x="0" y="0"/>
            <a:chExt cx="2754311" cy="688185"/>
          </a:xfrm>
        </p:grpSpPr>
        <p:sp>
          <p:nvSpPr>
            <p:cNvPr name="Freeform 37" id="37"/>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38" id="38"/>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9" id="39"/>
          <p:cNvGrpSpPr/>
          <p:nvPr/>
        </p:nvGrpSpPr>
        <p:grpSpPr>
          <a:xfrm rot="0">
            <a:off x="2288087" y="7532526"/>
            <a:ext cx="5128994" cy="904893"/>
            <a:chOff x="0" y="0"/>
            <a:chExt cx="6838659" cy="1206524"/>
          </a:xfrm>
        </p:grpSpPr>
        <p:sp>
          <p:nvSpPr>
            <p:cNvPr name="TextBox 40" id="40"/>
            <p:cNvSpPr txBox="true"/>
            <p:nvPr/>
          </p:nvSpPr>
          <p:spPr>
            <a:xfrm rot="0">
              <a:off x="1589864" y="-66675"/>
              <a:ext cx="4202931" cy="432859"/>
            </a:xfrm>
            <a:prstGeom prst="rect">
              <a:avLst/>
            </a:prstGeom>
          </p:spPr>
          <p:txBody>
            <a:bodyPr anchor="t" rtlCol="false" tIns="0" lIns="0" bIns="0" rIns="0">
              <a:spAutoFit/>
            </a:bodyPr>
            <a:lstStyle/>
            <a:p>
              <a:pPr algn="just" marL="0" indent="0" lvl="0">
                <a:lnSpc>
                  <a:spcPts val="2753"/>
                </a:lnSpc>
              </a:pPr>
              <a:r>
                <a:rPr lang="en-US" b="true" sz="1811">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Tối ưu Chi phí TCO</a:t>
              </a:r>
            </a:p>
          </p:txBody>
        </p:sp>
        <p:sp>
          <p:nvSpPr>
            <p:cNvPr name="TextBox 41" id="41"/>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Giảm chi phí vận hành, giảm rủi ro sự cố, tăng hiệu quả đầu tư dài hạn.</a:t>
              </a:r>
            </a:p>
          </p:txBody>
        </p:sp>
        <p:sp>
          <p:nvSpPr>
            <p:cNvPr name="TextBox 42" id="42"/>
            <p:cNvSpPr txBox="true"/>
            <p:nvPr/>
          </p:nvSpPr>
          <p:spPr>
            <a:xfrm rot="0">
              <a:off x="0" y="195609"/>
              <a:ext cx="1165955" cy="931982"/>
            </a:xfrm>
            <a:prstGeom prst="rect">
              <a:avLst/>
            </a:prstGeom>
          </p:spPr>
          <p:txBody>
            <a:bodyPr anchor="t" rtlCol="false" tIns="0" lIns="0" bIns="0" rIns="0">
              <a:spAutoFit/>
            </a:bodyPr>
            <a:lstStyle/>
            <a:p>
              <a:pPr algn="l" marL="0" indent="0" lvl="0">
                <a:lnSpc>
                  <a:spcPts val="4642"/>
                </a:lnSpc>
              </a:pPr>
              <a:r>
                <a:rPr lang="en-US" sz="5158" spc="-154">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04</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938179" cy="10287000"/>
            <a:chOff x="0" y="0"/>
            <a:chExt cx="1827339" cy="2709333"/>
          </a:xfrm>
        </p:grpSpPr>
        <p:sp>
          <p:nvSpPr>
            <p:cNvPr name="Freeform 3" id="3"/>
            <p:cNvSpPr/>
            <p:nvPr/>
          </p:nvSpPr>
          <p:spPr>
            <a:xfrm flipH="false" flipV="false" rot="0">
              <a:off x="0" y="0"/>
              <a:ext cx="1827339" cy="2709333"/>
            </a:xfrm>
            <a:custGeom>
              <a:avLst/>
              <a:gdLst/>
              <a:ahLst/>
              <a:cxnLst/>
              <a:rect r="r" b="b" t="t" l="l"/>
              <a:pathLst>
                <a:path h="2709333" w="1827339">
                  <a:moveTo>
                    <a:pt x="0" y="0"/>
                  </a:moveTo>
                  <a:lnTo>
                    <a:pt x="1827339" y="0"/>
                  </a:lnTo>
                  <a:lnTo>
                    <a:pt x="1827339"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827339"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5343219" y="4032536"/>
            <a:ext cx="3189919" cy="620584"/>
          </a:xfrm>
          <a:custGeom>
            <a:avLst/>
            <a:gdLst/>
            <a:ahLst/>
            <a:cxnLst/>
            <a:rect r="r" b="b" t="t" l="l"/>
            <a:pathLst>
              <a:path h="620584" w="3189919">
                <a:moveTo>
                  <a:pt x="0" y="0"/>
                </a:moveTo>
                <a:lnTo>
                  <a:pt x="3189919" y="0"/>
                </a:lnTo>
                <a:lnTo>
                  <a:pt x="3189919" y="620584"/>
                </a:lnTo>
                <a:lnTo>
                  <a:pt x="0" y="620584"/>
                </a:lnTo>
                <a:lnTo>
                  <a:pt x="0" y="0"/>
                </a:lnTo>
                <a:close/>
              </a:path>
            </a:pathLst>
          </a:custGeom>
          <a:blipFill>
            <a:blip r:embed="rId2"/>
            <a:stretch>
              <a:fillRect l="0" t="0" r="0" b="0"/>
            </a:stretch>
          </a:blipFill>
        </p:spPr>
      </p:sp>
      <p:grpSp>
        <p:nvGrpSpPr>
          <p:cNvPr name="Group 6" id="6"/>
          <p:cNvGrpSpPr/>
          <p:nvPr/>
        </p:nvGrpSpPr>
        <p:grpSpPr>
          <a:xfrm rot="0">
            <a:off x="5459316" y="1438329"/>
            <a:ext cx="2920486" cy="2916826"/>
            <a:chOff x="0" y="0"/>
            <a:chExt cx="567580" cy="566868"/>
          </a:xfrm>
        </p:grpSpPr>
        <p:sp>
          <p:nvSpPr>
            <p:cNvPr name="Freeform 7" id="7"/>
            <p:cNvSpPr/>
            <p:nvPr/>
          </p:nvSpPr>
          <p:spPr>
            <a:xfrm flipH="false" flipV="false" rot="0">
              <a:off x="0" y="0"/>
              <a:ext cx="567580" cy="566868"/>
            </a:xfrm>
            <a:custGeom>
              <a:avLst/>
              <a:gdLst/>
              <a:ahLst/>
              <a:cxnLst/>
              <a:rect r="r" b="b" t="t" l="l"/>
              <a:pathLst>
                <a:path h="566868" w="567580">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8" id="8"/>
            <p:cNvSpPr txBox="true"/>
            <p:nvPr/>
          </p:nvSpPr>
          <p:spPr>
            <a:xfrm>
              <a:off x="0" y="28575"/>
              <a:ext cx="567580" cy="538293"/>
            </a:xfrm>
            <a:prstGeom prst="rect">
              <a:avLst/>
            </a:prstGeom>
          </p:spPr>
          <p:txBody>
            <a:bodyPr anchor="ctr" rtlCol="false" tIns="65745" lIns="65745" bIns="65745" rIns="65745"/>
            <a:lstStyle/>
            <a:p>
              <a:pPr algn="ctr" marL="0" indent="0" lvl="0">
                <a:lnSpc>
                  <a:spcPts val="2460"/>
                </a:lnSpc>
              </a:pPr>
            </a:p>
          </p:txBody>
        </p:sp>
      </p:grpSp>
      <p:sp>
        <p:nvSpPr>
          <p:cNvPr name="TextBox 9" id="9"/>
          <p:cNvSpPr txBox="true"/>
          <p:nvPr/>
        </p:nvSpPr>
        <p:spPr>
          <a:xfrm rot="0">
            <a:off x="5708475" y="2199673"/>
            <a:ext cx="2459408" cy="807581"/>
          </a:xfrm>
          <a:prstGeom prst="rect">
            <a:avLst/>
          </a:prstGeom>
        </p:spPr>
        <p:txBody>
          <a:bodyPr anchor="t" rtlCol="false" tIns="0" lIns="0" bIns="0" rIns="0">
            <a:spAutoFit/>
          </a:bodyPr>
          <a:lstStyle/>
          <a:p>
            <a:pPr algn="ctr" marL="0" indent="0" lvl="0">
              <a:lnSpc>
                <a:spcPts val="6024"/>
              </a:lnSpc>
            </a:pPr>
            <a:r>
              <a:rPr lang="en-US" b="true" sz="6085" spc="-182">
                <a:solidFill>
                  <a:srgbClr val="FFFFFF"/>
                </a:solidFill>
                <a:latin typeface="Bricolage Grotesque Bold"/>
                <a:ea typeface="Bricolage Grotesque Bold"/>
                <a:cs typeface="Bricolage Grotesque Bold"/>
                <a:sym typeface="Bricolage Grotesque Bold"/>
              </a:rPr>
              <a:t>100%</a:t>
            </a:r>
          </a:p>
        </p:txBody>
      </p:sp>
      <p:sp>
        <p:nvSpPr>
          <p:cNvPr name="TextBox 10" id="10"/>
          <p:cNvSpPr txBox="true"/>
          <p:nvPr/>
        </p:nvSpPr>
        <p:spPr>
          <a:xfrm rot="0">
            <a:off x="5940959" y="3004609"/>
            <a:ext cx="1957200" cy="703501"/>
          </a:xfrm>
          <a:prstGeom prst="rect">
            <a:avLst/>
          </a:prstGeom>
        </p:spPr>
        <p:txBody>
          <a:bodyPr anchor="t" rtlCol="false" tIns="0" lIns="0" bIns="0" rIns="0">
            <a:spAutoFit/>
          </a:bodyPr>
          <a:lstStyle/>
          <a:p>
            <a:pPr algn="ctr" marL="0" indent="0" lvl="0">
              <a:lnSpc>
                <a:spcPts val="2847"/>
              </a:lnSpc>
            </a:pPr>
            <a:r>
              <a:rPr lang="en-US" sz="2034" spc="-50">
                <a:solidFill>
                  <a:srgbClr val="FFFFFF"/>
                </a:solidFill>
                <a:latin typeface="Poppins"/>
                <a:ea typeface="Poppins"/>
                <a:cs typeface="Poppins"/>
                <a:sym typeface="Poppins"/>
              </a:rPr>
              <a:t>KIẾN TRÚC LINH HOẠT</a:t>
            </a:r>
          </a:p>
        </p:txBody>
      </p:sp>
      <p:sp>
        <p:nvSpPr>
          <p:cNvPr name="Freeform 11" id="11"/>
          <p:cNvSpPr/>
          <p:nvPr/>
        </p:nvSpPr>
        <p:spPr>
          <a:xfrm flipH="false" flipV="false" rot="0">
            <a:off x="1028700" y="4249763"/>
            <a:ext cx="1048918" cy="806713"/>
          </a:xfrm>
          <a:custGeom>
            <a:avLst/>
            <a:gdLst/>
            <a:ahLst/>
            <a:cxnLst/>
            <a:rect r="r" b="b" t="t" l="l"/>
            <a:pathLst>
              <a:path h="806713" w="1048918">
                <a:moveTo>
                  <a:pt x="0" y="0"/>
                </a:moveTo>
                <a:lnTo>
                  <a:pt x="1048918" y="0"/>
                </a:lnTo>
                <a:lnTo>
                  <a:pt x="1048918" y="806713"/>
                </a:lnTo>
                <a:lnTo>
                  <a:pt x="0" y="8067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028700" y="5490173"/>
            <a:ext cx="4378886" cy="526016"/>
          </a:xfrm>
          <a:prstGeom prst="rect">
            <a:avLst/>
          </a:prstGeom>
        </p:spPr>
        <p:txBody>
          <a:bodyPr anchor="t" rtlCol="false" tIns="0" lIns="0" bIns="0" rIns="0">
            <a:spAutoFit/>
          </a:bodyPr>
          <a:lstStyle/>
          <a:p>
            <a:pPr algn="l" marL="0" indent="0" lvl="0">
              <a:lnSpc>
                <a:spcPts val="4593"/>
              </a:lnSpc>
            </a:pPr>
            <a:r>
              <a:rPr lang="en-US" b="true" sz="2126">
                <a:solidFill>
                  <a:srgbClr val="FFFFFF"/>
                </a:solidFill>
                <a:latin typeface="Poppins Bold"/>
                <a:ea typeface="Poppins Bold"/>
                <a:cs typeface="Poppins Bold"/>
                <a:sym typeface="Poppins Bold"/>
              </a:rPr>
              <a:t>RỦI RO TĂNG GIÁ LICENSE</a:t>
            </a:r>
          </a:p>
        </p:txBody>
      </p:sp>
      <p:sp>
        <p:nvSpPr>
          <p:cNvPr name="TextBox 13" id="13"/>
          <p:cNvSpPr txBox="true"/>
          <p:nvPr/>
        </p:nvSpPr>
        <p:spPr>
          <a:xfrm rot="0">
            <a:off x="1028700" y="6058910"/>
            <a:ext cx="4378886" cy="583249"/>
          </a:xfrm>
          <a:prstGeom prst="rect">
            <a:avLst/>
          </a:prstGeom>
        </p:spPr>
        <p:txBody>
          <a:bodyPr anchor="t" rtlCol="false" tIns="0" lIns="0" bIns="0" rIns="0">
            <a:spAutoFit/>
          </a:bodyPr>
          <a:lstStyle/>
          <a:p>
            <a:pPr algn="just" marL="0" indent="0" lvl="0">
              <a:lnSpc>
                <a:spcPts val="2207"/>
              </a:lnSpc>
            </a:pPr>
            <a:r>
              <a:rPr lang="en-US" sz="1809">
                <a:solidFill>
                  <a:srgbClr val="FFFFFF"/>
                </a:solidFill>
                <a:latin typeface="Poppins"/>
                <a:ea typeface="Poppins"/>
                <a:cs typeface="Poppins"/>
                <a:sym typeface="Poppins"/>
              </a:rPr>
              <a:t>Chi phí license F5 có thể tăng, ảnh hưởng ngân sách dài hạn.</a:t>
            </a:r>
          </a:p>
        </p:txBody>
      </p:sp>
      <p:grpSp>
        <p:nvGrpSpPr>
          <p:cNvPr name="Group 14" id="14"/>
          <p:cNvGrpSpPr/>
          <p:nvPr/>
        </p:nvGrpSpPr>
        <p:grpSpPr>
          <a:xfrm rot="0">
            <a:off x="1028700" y="7006271"/>
            <a:ext cx="4378886" cy="942439"/>
            <a:chOff x="0" y="0"/>
            <a:chExt cx="5838515" cy="1256586"/>
          </a:xfrm>
        </p:grpSpPr>
        <p:sp>
          <p:nvSpPr>
            <p:cNvPr name="TextBox 15" id="15"/>
            <p:cNvSpPr txBox="true"/>
            <p:nvPr/>
          </p:nvSpPr>
          <p:spPr>
            <a:xfrm rot="0">
              <a:off x="0" y="-209550"/>
              <a:ext cx="5838515" cy="631505"/>
            </a:xfrm>
            <a:prstGeom prst="rect">
              <a:avLst/>
            </a:prstGeom>
          </p:spPr>
          <p:txBody>
            <a:bodyPr anchor="t" rtlCol="false" tIns="0" lIns="0" bIns="0" rIns="0">
              <a:spAutoFit/>
            </a:bodyPr>
            <a:lstStyle/>
            <a:p>
              <a:pPr algn="l" marL="0" indent="0" lvl="0">
                <a:lnSpc>
                  <a:spcPts val="4593"/>
                </a:lnSpc>
              </a:pPr>
              <a:r>
                <a:rPr lang="en-US" b="true" sz="2126">
                  <a:solidFill>
                    <a:srgbClr val="FFFFFF"/>
                  </a:solidFill>
                  <a:latin typeface="Poppins Bold"/>
                  <a:ea typeface="Poppins Bold"/>
                  <a:cs typeface="Poppins Bold"/>
                  <a:sym typeface="Poppins Bold"/>
                </a:rPr>
                <a:t>KIẾN TRÚC LINH HOẠT</a:t>
              </a:r>
            </a:p>
          </p:txBody>
        </p:sp>
        <p:sp>
          <p:nvSpPr>
            <p:cNvPr name="TextBox 16" id="16"/>
            <p:cNvSpPr txBox="true"/>
            <p:nvPr/>
          </p:nvSpPr>
          <p:spPr>
            <a:xfrm rot="0">
              <a:off x="0" y="488445"/>
              <a:ext cx="5838515" cy="768141"/>
            </a:xfrm>
            <a:prstGeom prst="rect">
              <a:avLst/>
            </a:prstGeom>
          </p:spPr>
          <p:txBody>
            <a:bodyPr anchor="t" rtlCol="false" tIns="0" lIns="0" bIns="0" rIns="0">
              <a:spAutoFit/>
            </a:bodyPr>
            <a:lstStyle/>
            <a:p>
              <a:pPr algn="just" marL="0" indent="0" lvl="0">
                <a:lnSpc>
                  <a:spcPts val="2207"/>
                </a:lnSpc>
              </a:pPr>
              <a:r>
                <a:rPr lang="en-US" sz="1809">
                  <a:solidFill>
                    <a:srgbClr val="FFFFFF"/>
                  </a:solidFill>
                  <a:latin typeface="Poppins"/>
                  <a:ea typeface="Poppins"/>
                  <a:cs typeface="Poppins"/>
                  <a:sym typeface="Poppins"/>
                </a:rPr>
                <a:t>Thiết kế hệ thống cho phép chuyển đổi sang ingress controller khác.</a:t>
              </a:r>
            </a:p>
          </p:txBody>
        </p:sp>
      </p:grpSp>
      <p:grpSp>
        <p:nvGrpSpPr>
          <p:cNvPr name="Group 17" id="17"/>
          <p:cNvGrpSpPr/>
          <p:nvPr/>
        </p:nvGrpSpPr>
        <p:grpSpPr>
          <a:xfrm rot="0">
            <a:off x="1028700" y="8315861"/>
            <a:ext cx="4378886" cy="942439"/>
            <a:chOff x="0" y="0"/>
            <a:chExt cx="5838515" cy="1256586"/>
          </a:xfrm>
        </p:grpSpPr>
        <p:sp>
          <p:nvSpPr>
            <p:cNvPr name="TextBox 18" id="18"/>
            <p:cNvSpPr txBox="true"/>
            <p:nvPr/>
          </p:nvSpPr>
          <p:spPr>
            <a:xfrm rot="0">
              <a:off x="0" y="-209550"/>
              <a:ext cx="5838515" cy="631505"/>
            </a:xfrm>
            <a:prstGeom prst="rect">
              <a:avLst/>
            </a:prstGeom>
          </p:spPr>
          <p:txBody>
            <a:bodyPr anchor="t" rtlCol="false" tIns="0" lIns="0" bIns="0" rIns="0">
              <a:spAutoFit/>
            </a:bodyPr>
            <a:lstStyle/>
            <a:p>
              <a:pPr algn="l" marL="0" indent="0" lvl="0">
                <a:lnSpc>
                  <a:spcPts val="4593"/>
                </a:lnSpc>
              </a:pPr>
              <a:r>
                <a:rPr lang="en-US" b="true" sz="2126">
                  <a:solidFill>
                    <a:srgbClr val="FFFFFF"/>
                  </a:solidFill>
                  <a:latin typeface="Poppins Bold"/>
                  <a:ea typeface="Poppins Bold"/>
                  <a:cs typeface="Poppins Bold"/>
                  <a:sym typeface="Poppins Bold"/>
                </a:rPr>
                <a:t>KẾ HOẠCH DỰ PHÒNG</a:t>
              </a:r>
            </a:p>
          </p:txBody>
        </p:sp>
        <p:sp>
          <p:nvSpPr>
            <p:cNvPr name="TextBox 19" id="19"/>
            <p:cNvSpPr txBox="true"/>
            <p:nvPr/>
          </p:nvSpPr>
          <p:spPr>
            <a:xfrm rot="0">
              <a:off x="0" y="488445"/>
              <a:ext cx="5838515" cy="768141"/>
            </a:xfrm>
            <a:prstGeom prst="rect">
              <a:avLst/>
            </a:prstGeom>
          </p:spPr>
          <p:txBody>
            <a:bodyPr anchor="t" rtlCol="false" tIns="0" lIns="0" bIns="0" rIns="0">
              <a:spAutoFit/>
            </a:bodyPr>
            <a:lstStyle/>
            <a:p>
              <a:pPr algn="just" marL="0" indent="0" lvl="0">
                <a:lnSpc>
                  <a:spcPts val="2207"/>
                </a:lnSpc>
              </a:pPr>
              <a:r>
                <a:rPr lang="en-US" sz="1809">
                  <a:solidFill>
                    <a:srgbClr val="FFFFFF"/>
                  </a:solidFill>
                  <a:latin typeface="Poppins"/>
                  <a:ea typeface="Poppins"/>
                  <a:cs typeface="Poppins"/>
                  <a:sym typeface="Poppins"/>
                </a:rPr>
                <a:t>Chuẩn bị, thử nghiệm chuyển đổi với timeline giảm thiểu gián đoạn.</a:t>
              </a:r>
            </a:p>
          </p:txBody>
        </p:sp>
      </p:grpSp>
      <p:grpSp>
        <p:nvGrpSpPr>
          <p:cNvPr name="Group 20" id="20"/>
          <p:cNvGrpSpPr/>
          <p:nvPr/>
        </p:nvGrpSpPr>
        <p:grpSpPr>
          <a:xfrm rot="0">
            <a:off x="9345491" y="1359658"/>
            <a:ext cx="7522404" cy="7567644"/>
            <a:chOff x="0" y="0"/>
            <a:chExt cx="10029872" cy="10090192"/>
          </a:xfrm>
        </p:grpSpPr>
        <p:sp>
          <p:nvSpPr>
            <p:cNvPr name="TextBox 21" id="21"/>
            <p:cNvSpPr txBox="true"/>
            <p:nvPr/>
          </p:nvSpPr>
          <p:spPr>
            <a:xfrm rot="0">
              <a:off x="1033544" y="-66675"/>
              <a:ext cx="7126880" cy="523344"/>
            </a:xfrm>
            <a:prstGeom prst="rect">
              <a:avLst/>
            </a:prstGeom>
          </p:spPr>
          <p:txBody>
            <a:bodyPr anchor="t" rtlCol="false" tIns="0" lIns="0" bIns="0" rIns="0">
              <a:spAutoFit/>
            </a:bodyPr>
            <a:lstStyle/>
            <a:p>
              <a:pPr algn="just" marL="0" indent="0" lvl="0">
                <a:lnSpc>
                  <a:spcPts val="3171"/>
                </a:lnSpc>
              </a:pPr>
              <a:r>
                <a:rPr lang="en-US" b="true" sz="2265" spc="-56">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CÁC LỰA CHỌN THAY THẾ</a:t>
              </a:r>
            </a:p>
          </p:txBody>
        </p:sp>
        <p:sp>
          <p:nvSpPr>
            <p:cNvPr name="TextBox 22" id="22"/>
            <p:cNvSpPr txBox="true"/>
            <p:nvPr/>
          </p:nvSpPr>
          <p:spPr>
            <a:xfrm rot="0">
              <a:off x="1033544" y="1088036"/>
              <a:ext cx="8996329" cy="1917587"/>
            </a:xfrm>
            <a:prstGeom prst="rect">
              <a:avLst/>
            </a:prstGeom>
          </p:spPr>
          <p:txBody>
            <a:bodyPr anchor="t" rtlCol="false" tIns="0" lIns="0" bIns="0" rIns="0">
              <a:spAutoFit/>
            </a:bodyPr>
            <a:lstStyle/>
            <a:p>
              <a:pPr algn="just" marL="0" indent="0" lvl="0">
                <a:lnSpc>
                  <a:spcPts val="2892"/>
                </a:lnSpc>
              </a:pPr>
              <a:r>
                <a:rPr lang="en-US" sz="2065" spc="-51">
                  <a:solidFill>
                    <a:srgbClr val="3A58E4"/>
                  </a:solidFill>
                  <a:latin typeface="Poppins"/>
                  <a:ea typeface="Poppins"/>
                  <a:cs typeface="Poppins"/>
                  <a:sym typeface="Poppins"/>
                </a:rPr>
                <a:t>HA Proxy: Hiệu năng cao, mã nguồn mở, chi phí thấp, cộng đồng lớn, đã được kiểm chứng trong môi trường enterprise với khả năng xử lý hàng triệu kết nối đồng thời.</a:t>
              </a:r>
            </a:p>
          </p:txBody>
        </p:sp>
        <p:sp>
          <p:nvSpPr>
            <p:cNvPr name="TextBox 23" id="23"/>
            <p:cNvSpPr txBox="true"/>
            <p:nvPr/>
          </p:nvSpPr>
          <p:spPr>
            <a:xfrm rot="0">
              <a:off x="1033544" y="3475610"/>
              <a:ext cx="7126880" cy="523344"/>
            </a:xfrm>
            <a:prstGeom prst="rect">
              <a:avLst/>
            </a:prstGeom>
          </p:spPr>
          <p:txBody>
            <a:bodyPr anchor="t" rtlCol="false" tIns="0" lIns="0" bIns="0" rIns="0">
              <a:spAutoFit/>
            </a:bodyPr>
            <a:lstStyle/>
            <a:p>
              <a:pPr algn="just" marL="0" indent="0" lvl="0">
                <a:lnSpc>
                  <a:spcPts val="3171"/>
                </a:lnSpc>
              </a:pPr>
              <a:r>
                <a:rPr lang="en-US" b="true" sz="2265" spc="-56">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TRAEFIK</a:t>
              </a:r>
            </a:p>
          </p:txBody>
        </p:sp>
        <p:sp>
          <p:nvSpPr>
            <p:cNvPr name="TextBox 24" id="24"/>
            <p:cNvSpPr txBox="true"/>
            <p:nvPr/>
          </p:nvSpPr>
          <p:spPr>
            <a:xfrm rot="0">
              <a:off x="1033544" y="5112920"/>
              <a:ext cx="8996329" cy="1434987"/>
            </a:xfrm>
            <a:prstGeom prst="rect">
              <a:avLst/>
            </a:prstGeom>
          </p:spPr>
          <p:txBody>
            <a:bodyPr anchor="t" rtlCol="false" tIns="0" lIns="0" bIns="0" rIns="0">
              <a:spAutoFit/>
            </a:bodyPr>
            <a:lstStyle/>
            <a:p>
              <a:pPr algn="just" marL="0" indent="0" lvl="0">
                <a:lnSpc>
                  <a:spcPts val="2892"/>
                </a:lnSpc>
              </a:pPr>
              <a:r>
                <a:rPr lang="en-US" sz="2065" spc="-51">
                  <a:solidFill>
                    <a:srgbClr val="3A58E4"/>
                  </a:solidFill>
                  <a:latin typeface="Poppins"/>
                  <a:ea typeface="Poppins"/>
                  <a:cs typeface="Poppins"/>
                  <a:sym typeface="Poppins"/>
                </a:rPr>
                <a:t>Dễ sử dụng, tích hợp tốt với Kubernetes, auto-discovery service, cấu hình động không cần restart, phù hợp cho môi trường cloud-native và microservices.</a:t>
              </a:r>
            </a:p>
          </p:txBody>
        </p:sp>
        <p:sp>
          <p:nvSpPr>
            <p:cNvPr name="TextBox 25" id="25"/>
            <p:cNvSpPr txBox="true"/>
            <p:nvPr/>
          </p:nvSpPr>
          <p:spPr>
            <a:xfrm rot="0">
              <a:off x="1033544" y="7017894"/>
              <a:ext cx="7126880" cy="523344"/>
            </a:xfrm>
            <a:prstGeom prst="rect">
              <a:avLst/>
            </a:prstGeom>
          </p:spPr>
          <p:txBody>
            <a:bodyPr anchor="t" rtlCol="false" tIns="0" lIns="0" bIns="0" rIns="0">
              <a:spAutoFit/>
            </a:bodyPr>
            <a:lstStyle/>
            <a:p>
              <a:pPr algn="just" marL="0" indent="0" lvl="0">
                <a:lnSpc>
                  <a:spcPts val="3171"/>
                </a:lnSpc>
              </a:pPr>
              <a:r>
                <a:rPr lang="en-US" b="true" sz="2265" spc="-56">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ENVOY PROXY</a:t>
              </a:r>
            </a:p>
          </p:txBody>
        </p:sp>
        <p:sp>
          <p:nvSpPr>
            <p:cNvPr name="TextBox 26" id="26"/>
            <p:cNvSpPr txBox="true"/>
            <p:nvPr/>
          </p:nvSpPr>
          <p:spPr>
            <a:xfrm rot="0">
              <a:off x="1033544" y="8172605"/>
              <a:ext cx="8996329" cy="1917587"/>
            </a:xfrm>
            <a:prstGeom prst="rect">
              <a:avLst/>
            </a:prstGeom>
          </p:spPr>
          <p:txBody>
            <a:bodyPr anchor="t" rtlCol="false" tIns="0" lIns="0" bIns="0" rIns="0">
              <a:spAutoFit/>
            </a:bodyPr>
            <a:lstStyle/>
            <a:p>
              <a:pPr algn="just" marL="0" indent="0" lvl="0">
                <a:lnSpc>
                  <a:spcPts val="2892"/>
                </a:lnSpc>
              </a:pPr>
              <a:r>
                <a:rPr lang="en-US" sz="2065" spc="-51">
                  <a:solidFill>
                    <a:srgbClr val="3A58E4"/>
                  </a:solidFill>
                  <a:latin typeface="Poppins"/>
                  <a:ea typeface="Poppins"/>
                  <a:cs typeface="Poppins"/>
                  <a:sym typeface="Poppins"/>
                </a:rPr>
                <a:t>Hiện đại, cloud-native, tích hợp service mesh (Istio), observability mạnh mẽ, phù hợp kiến trúc microservices phức tạp, được sử dụng bởi các công ty lớn.</a:t>
              </a:r>
            </a:p>
          </p:txBody>
        </p:sp>
        <p:sp>
          <p:nvSpPr>
            <p:cNvPr name="TextBox 27" id="27"/>
            <p:cNvSpPr txBox="true"/>
            <p:nvPr/>
          </p:nvSpPr>
          <p:spPr>
            <a:xfrm rot="0">
              <a:off x="0" y="1355403"/>
              <a:ext cx="643052" cy="332925"/>
            </a:xfrm>
            <a:prstGeom prst="rect">
              <a:avLst/>
            </a:prstGeom>
          </p:spPr>
          <p:txBody>
            <a:bodyPr anchor="t" rtlCol="false" tIns="0" lIns="0" bIns="0" rIns="0">
              <a:spAutoFit/>
            </a:bodyPr>
            <a:lstStyle/>
            <a:p>
              <a:pPr algn="l" marL="0" indent="0" lvl="0">
                <a:lnSpc>
                  <a:spcPts val="1843"/>
                </a:lnSpc>
              </a:pPr>
              <a:r>
                <a:rPr lang="en-US" sz="1862" spc="-55">
                  <a:solidFill>
                    <a:srgbClr val="3A58E4"/>
                  </a:solidFill>
                  <a:latin typeface="Bricolage Grotesque"/>
                  <a:ea typeface="Bricolage Grotesque"/>
                  <a:cs typeface="Bricolage Grotesque"/>
                  <a:sym typeface="Bricolage Grotesque"/>
                </a:rPr>
                <a:t>01</a:t>
              </a:r>
            </a:p>
          </p:txBody>
        </p:sp>
        <p:sp>
          <p:nvSpPr>
            <p:cNvPr name="TextBox 28" id="28"/>
            <p:cNvSpPr txBox="true"/>
            <p:nvPr/>
          </p:nvSpPr>
          <p:spPr>
            <a:xfrm rot="0">
              <a:off x="0" y="4897687"/>
              <a:ext cx="643052" cy="332925"/>
            </a:xfrm>
            <a:prstGeom prst="rect">
              <a:avLst/>
            </a:prstGeom>
          </p:spPr>
          <p:txBody>
            <a:bodyPr anchor="t" rtlCol="false" tIns="0" lIns="0" bIns="0" rIns="0">
              <a:spAutoFit/>
            </a:bodyPr>
            <a:lstStyle/>
            <a:p>
              <a:pPr algn="l" marL="0" indent="0" lvl="0">
                <a:lnSpc>
                  <a:spcPts val="1843"/>
                </a:lnSpc>
              </a:pPr>
              <a:r>
                <a:rPr lang="en-US" sz="1862" spc="-55">
                  <a:solidFill>
                    <a:srgbClr val="3A58E4"/>
                  </a:solidFill>
                  <a:latin typeface="Bricolage Grotesque"/>
                  <a:ea typeface="Bricolage Grotesque"/>
                  <a:cs typeface="Bricolage Grotesque"/>
                  <a:sym typeface="Bricolage Grotesque"/>
                </a:rPr>
                <a:t>02</a:t>
              </a:r>
            </a:p>
          </p:txBody>
        </p:sp>
        <p:sp>
          <p:nvSpPr>
            <p:cNvPr name="TextBox 29" id="29"/>
            <p:cNvSpPr txBox="true"/>
            <p:nvPr/>
          </p:nvSpPr>
          <p:spPr>
            <a:xfrm rot="0">
              <a:off x="0" y="8439972"/>
              <a:ext cx="643052" cy="332925"/>
            </a:xfrm>
            <a:prstGeom prst="rect">
              <a:avLst/>
            </a:prstGeom>
          </p:spPr>
          <p:txBody>
            <a:bodyPr anchor="t" rtlCol="false" tIns="0" lIns="0" bIns="0" rIns="0">
              <a:spAutoFit/>
            </a:bodyPr>
            <a:lstStyle/>
            <a:p>
              <a:pPr algn="l" marL="0" indent="0" lvl="0">
                <a:lnSpc>
                  <a:spcPts val="1843"/>
                </a:lnSpc>
              </a:pPr>
              <a:r>
                <a:rPr lang="en-US" sz="1862" spc="-55">
                  <a:solidFill>
                    <a:srgbClr val="3A58E4"/>
                  </a:solidFill>
                  <a:latin typeface="Bricolage Grotesque"/>
                  <a:ea typeface="Bricolage Grotesque"/>
                  <a:cs typeface="Bricolage Grotesque"/>
                  <a:sym typeface="Bricolage Grotesque"/>
                </a:rPr>
                <a:t>03</a:t>
              </a:r>
            </a:p>
          </p:txBody>
        </p:sp>
      </p:grpSp>
      <p:grpSp>
        <p:nvGrpSpPr>
          <p:cNvPr name="Group 30" id="30"/>
          <p:cNvGrpSpPr/>
          <p:nvPr/>
        </p:nvGrpSpPr>
        <p:grpSpPr>
          <a:xfrm rot="0">
            <a:off x="1028700" y="1196251"/>
            <a:ext cx="24226" cy="1038034"/>
            <a:chOff x="0" y="0"/>
            <a:chExt cx="12543" cy="537460"/>
          </a:xfrm>
        </p:grpSpPr>
        <p:sp>
          <p:nvSpPr>
            <p:cNvPr name="Freeform 31" id="31"/>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FFFFFF"/>
            </a:solidFill>
          </p:spPr>
        </p:sp>
        <p:sp>
          <p:nvSpPr>
            <p:cNvPr name="TextBox 32" id="32"/>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3" id="33"/>
          <p:cNvSpPr txBox="true"/>
          <p:nvPr/>
        </p:nvSpPr>
        <p:spPr>
          <a:xfrm rot="0">
            <a:off x="1144711" y="1382275"/>
            <a:ext cx="2753109" cy="1019560"/>
          </a:xfrm>
          <a:prstGeom prst="rect">
            <a:avLst/>
          </a:prstGeom>
        </p:spPr>
        <p:txBody>
          <a:bodyPr anchor="t" rtlCol="false" tIns="0" lIns="0" bIns="0" rIns="0">
            <a:spAutoFit/>
          </a:bodyPr>
          <a:lstStyle/>
          <a:p>
            <a:pPr algn="l" marL="0" indent="0" lvl="0">
              <a:lnSpc>
                <a:spcPts val="3884"/>
              </a:lnSpc>
            </a:pPr>
            <a:r>
              <a:rPr lang="en-US" sz="3963" spc="-253">
                <a:solidFill>
                  <a:srgbClr val="FFFFFF"/>
                </a:solidFill>
                <a:latin typeface="Bricolage Grotesque"/>
                <a:ea typeface="Bricolage Grotesque"/>
                <a:cs typeface="Bricolage Grotesque"/>
                <a:sym typeface="Bricolage Grotesque"/>
              </a:rPr>
              <a:t>Rủi ro Vendor Lock-in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92056"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492056" y="4452390"/>
            <a:ext cx="7106119" cy="407505"/>
          </a:xfrm>
          <a:prstGeom prst="rect">
            <a:avLst/>
          </a:prstGeom>
        </p:spPr>
        <p:txBody>
          <a:bodyPr anchor="t" rtlCol="false" tIns="0" lIns="0" bIns="0" rIns="0">
            <a:spAutoFit/>
          </a:bodyPr>
          <a:lstStyle/>
          <a:p>
            <a:pPr algn="l" marL="0" indent="0" lvl="0">
              <a:lnSpc>
                <a:spcPts val="3264"/>
              </a:lnSpc>
            </a:pPr>
            <a:r>
              <a:rPr lang="en-US" b="true" sz="2331" spc="-58">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LỢI THẾ BẢO MẬT VÀ TUÂN THỦ VỚI F5 NGINX PLUS</a:t>
            </a:r>
          </a:p>
        </p:txBody>
      </p:sp>
      <p:sp>
        <p:nvSpPr>
          <p:cNvPr name="Freeform 6" id="6"/>
          <p:cNvSpPr/>
          <p:nvPr/>
        </p:nvSpPr>
        <p:spPr>
          <a:xfrm flipH="false" flipV="false" rot="-8687136">
            <a:off x="15580115" y="4542838"/>
            <a:ext cx="189150" cy="228643"/>
          </a:xfrm>
          <a:custGeom>
            <a:avLst/>
            <a:gdLst/>
            <a:ahLst/>
            <a:cxnLst/>
            <a:rect r="r" b="b" t="t" l="l"/>
            <a:pathLst>
              <a:path h="228643" w="189150">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0"/>
            <a:ext cx="6352295" cy="10287000"/>
            <a:chOff x="0" y="0"/>
            <a:chExt cx="984137" cy="1593725"/>
          </a:xfrm>
        </p:grpSpPr>
        <p:sp>
          <p:nvSpPr>
            <p:cNvPr name="Freeform 8" id="8"/>
            <p:cNvSpPr/>
            <p:nvPr/>
          </p:nvSpPr>
          <p:spPr>
            <a:xfrm flipH="false" flipV="false" rot="0">
              <a:off x="0" y="0"/>
              <a:ext cx="984137" cy="1593725"/>
            </a:xfrm>
            <a:custGeom>
              <a:avLst/>
              <a:gdLst/>
              <a:ahLst/>
              <a:cxnLst/>
              <a:rect r="r" b="b" t="t" l="l"/>
              <a:pathLst>
                <a:path h="1593725" w="984137">
                  <a:moveTo>
                    <a:pt x="0" y="0"/>
                  </a:moveTo>
                  <a:lnTo>
                    <a:pt x="984137" y="0"/>
                  </a:lnTo>
                  <a:lnTo>
                    <a:pt x="984137" y="1593725"/>
                  </a:lnTo>
                  <a:lnTo>
                    <a:pt x="0" y="1593725"/>
                  </a:lnTo>
                  <a:close/>
                </a:path>
              </a:pathLst>
            </a:custGeom>
            <a:blipFill>
              <a:blip r:embed="rId4"/>
              <a:stretch>
                <a:fillRect l="-4554" t="0" r="-4554" b="0"/>
              </a:stretch>
            </a:blipFill>
          </p:spPr>
        </p:sp>
      </p:grpSp>
      <p:grpSp>
        <p:nvGrpSpPr>
          <p:cNvPr name="Group 9" id="9"/>
          <p:cNvGrpSpPr/>
          <p:nvPr/>
        </p:nvGrpSpPr>
        <p:grpSpPr>
          <a:xfrm rot="0">
            <a:off x="16438046" y="12531"/>
            <a:ext cx="1849954" cy="1835635"/>
            <a:chOff x="0" y="0"/>
            <a:chExt cx="2466605" cy="2447514"/>
          </a:xfrm>
        </p:grpSpPr>
        <p:grpSp>
          <p:nvGrpSpPr>
            <p:cNvPr name="Group 10" id="10"/>
            <p:cNvGrpSpPr/>
            <p:nvPr/>
          </p:nvGrpSpPr>
          <p:grpSpPr>
            <a:xfrm rot="0">
              <a:off x="0" y="0"/>
              <a:ext cx="2466605" cy="2447514"/>
              <a:chOff x="0" y="0"/>
              <a:chExt cx="787566" cy="781470"/>
            </a:xfrm>
          </p:grpSpPr>
          <p:sp>
            <p:nvSpPr>
              <p:cNvPr name="Freeform 11" id="11"/>
              <p:cNvSpPr/>
              <p:nvPr/>
            </p:nvSpPr>
            <p:spPr>
              <a:xfrm flipH="false" flipV="false" rot="0">
                <a:off x="0" y="0"/>
                <a:ext cx="787566" cy="781470"/>
              </a:xfrm>
              <a:custGeom>
                <a:avLst/>
                <a:gdLst/>
                <a:ahLst/>
                <a:cxnLst/>
                <a:rect r="r" b="b" t="t" l="l"/>
                <a:pathLst>
                  <a:path h="781470" w="787566">
                    <a:moveTo>
                      <a:pt x="0" y="0"/>
                    </a:moveTo>
                    <a:lnTo>
                      <a:pt x="787566" y="0"/>
                    </a:lnTo>
                    <a:lnTo>
                      <a:pt x="787566" y="781470"/>
                    </a:lnTo>
                    <a:lnTo>
                      <a:pt x="0" y="78147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195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83241"/>
            </a:xfrm>
            <a:prstGeom prst="rect">
              <a:avLst/>
            </a:prstGeom>
          </p:spPr>
          <p:txBody>
            <a:bodyPr anchor="t" rtlCol="false" tIns="0" lIns="0" bIns="0" rIns="0">
              <a:spAutoFit/>
            </a:bodyPr>
            <a:lstStyle/>
            <a:p>
              <a:pPr algn="ctr" marL="0" indent="0" lvl="0">
                <a:lnSpc>
                  <a:spcPts val="6320"/>
                </a:lnSpc>
              </a:pPr>
              <a:r>
                <a:rPr lang="en-US" sz="6449" spc="-412">
                  <a:solidFill>
                    <a:srgbClr val="FFFFFF"/>
                  </a:solidFill>
                  <a:latin typeface="Bricolage Grotesque"/>
                  <a:ea typeface="Bricolage Grotesque"/>
                  <a:cs typeface="Bricolage Grotesque"/>
                  <a:sym typeface="Bricolage Grotesque"/>
                </a:rPr>
                <a:t>09</a:t>
              </a:r>
            </a:p>
          </p:txBody>
        </p:sp>
      </p:grpSp>
      <p:sp>
        <p:nvSpPr>
          <p:cNvPr name="AutoShape 14" id="14"/>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Freeform 15" id="15"/>
          <p:cNvSpPr/>
          <p:nvPr/>
        </p:nvSpPr>
        <p:spPr>
          <a:xfrm flipH="false" flipV="false" rot="0">
            <a:off x="5177017" y="5870652"/>
            <a:ext cx="2350556" cy="457290"/>
          </a:xfrm>
          <a:custGeom>
            <a:avLst/>
            <a:gdLst/>
            <a:ahLst/>
            <a:cxnLst/>
            <a:rect r="r" b="b" t="t" l="l"/>
            <a:pathLst>
              <a:path h="457290" w="2350556">
                <a:moveTo>
                  <a:pt x="0" y="0"/>
                </a:moveTo>
                <a:lnTo>
                  <a:pt x="2350556" y="0"/>
                </a:lnTo>
                <a:lnTo>
                  <a:pt x="2350556" y="457290"/>
                </a:lnTo>
                <a:lnTo>
                  <a:pt x="0" y="457290"/>
                </a:lnTo>
                <a:lnTo>
                  <a:pt x="0" y="0"/>
                </a:lnTo>
                <a:close/>
              </a:path>
            </a:pathLst>
          </a:custGeom>
          <a:blipFill>
            <a:blip r:embed="rId5"/>
            <a:stretch>
              <a:fillRect l="0" t="0" r="0" b="0"/>
            </a:stretch>
          </a:blipFill>
        </p:spPr>
      </p:sp>
      <p:grpSp>
        <p:nvGrpSpPr>
          <p:cNvPr name="Group 16" id="16"/>
          <p:cNvGrpSpPr/>
          <p:nvPr/>
        </p:nvGrpSpPr>
        <p:grpSpPr>
          <a:xfrm rot="0">
            <a:off x="5262566" y="3959058"/>
            <a:ext cx="2152019" cy="2149322"/>
            <a:chOff x="0" y="0"/>
            <a:chExt cx="567580" cy="566868"/>
          </a:xfrm>
        </p:grpSpPr>
        <p:sp>
          <p:nvSpPr>
            <p:cNvPr name="Freeform 17" id="17"/>
            <p:cNvSpPr/>
            <p:nvPr/>
          </p:nvSpPr>
          <p:spPr>
            <a:xfrm flipH="false" flipV="false" rot="0">
              <a:off x="0" y="0"/>
              <a:ext cx="567580" cy="566868"/>
            </a:xfrm>
            <a:custGeom>
              <a:avLst/>
              <a:gdLst/>
              <a:ahLst/>
              <a:cxnLst/>
              <a:rect r="r" b="b" t="t" l="l"/>
              <a:pathLst>
                <a:path h="566868" w="567580">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28575"/>
              <a:ext cx="567580" cy="538293"/>
            </a:xfrm>
            <a:prstGeom prst="rect">
              <a:avLst/>
            </a:prstGeom>
          </p:spPr>
          <p:txBody>
            <a:bodyPr anchor="ctr" rtlCol="false" tIns="48445" lIns="48445" bIns="48445" rIns="48445"/>
            <a:lstStyle/>
            <a:p>
              <a:pPr algn="ctr" marL="0" indent="0" lvl="0">
                <a:lnSpc>
                  <a:spcPts val="2460"/>
                </a:lnSpc>
              </a:pPr>
            </a:p>
          </p:txBody>
        </p:sp>
      </p:grpSp>
      <p:sp>
        <p:nvSpPr>
          <p:cNvPr name="TextBox 19" id="19"/>
          <p:cNvSpPr txBox="true"/>
          <p:nvPr/>
        </p:nvSpPr>
        <p:spPr>
          <a:xfrm rot="0">
            <a:off x="5602320" y="4425771"/>
            <a:ext cx="1499950" cy="494450"/>
          </a:xfrm>
          <a:prstGeom prst="rect">
            <a:avLst/>
          </a:prstGeom>
        </p:spPr>
        <p:txBody>
          <a:bodyPr anchor="t" rtlCol="false" tIns="0" lIns="0" bIns="0" rIns="0">
            <a:spAutoFit/>
          </a:bodyPr>
          <a:lstStyle/>
          <a:p>
            <a:pPr algn="ctr" marL="0" indent="0" lvl="0">
              <a:lnSpc>
                <a:spcPts val="3616"/>
              </a:lnSpc>
            </a:pPr>
            <a:r>
              <a:rPr lang="en-US" b="true" sz="3652" spc="-109">
                <a:solidFill>
                  <a:srgbClr val="FFFFFF"/>
                </a:solidFill>
                <a:latin typeface="Bricolage Grotesque Bold"/>
                <a:ea typeface="Bricolage Grotesque Bold"/>
                <a:cs typeface="Bricolage Grotesque Bold"/>
                <a:sym typeface="Bricolage Grotesque Bold"/>
              </a:rPr>
              <a:t>WAF</a:t>
            </a:r>
          </a:p>
        </p:txBody>
      </p:sp>
      <p:sp>
        <p:nvSpPr>
          <p:cNvPr name="TextBox 20" id="20"/>
          <p:cNvSpPr txBox="true"/>
          <p:nvPr/>
        </p:nvSpPr>
        <p:spPr>
          <a:xfrm rot="0">
            <a:off x="5746312" y="5256457"/>
            <a:ext cx="1211966" cy="434834"/>
          </a:xfrm>
          <a:prstGeom prst="rect">
            <a:avLst/>
          </a:prstGeom>
        </p:spPr>
        <p:txBody>
          <a:bodyPr anchor="t" rtlCol="false" tIns="0" lIns="0" bIns="0" rIns="0">
            <a:spAutoFit/>
          </a:bodyPr>
          <a:lstStyle/>
          <a:p>
            <a:pPr algn="ctr" marL="0" indent="0" lvl="0">
              <a:lnSpc>
                <a:spcPts val="1757"/>
              </a:lnSpc>
            </a:pPr>
            <a:r>
              <a:rPr lang="en-US" sz="1255" spc="-31">
                <a:solidFill>
                  <a:srgbClr val="FFFFFF"/>
                </a:solidFill>
                <a:latin typeface="Poppins"/>
                <a:ea typeface="Poppins"/>
                <a:cs typeface="Poppins"/>
                <a:sym typeface="Poppins"/>
              </a:rPr>
              <a:t>BẢO MẬT NÂNG CAO</a:t>
            </a:r>
          </a:p>
        </p:txBody>
      </p:sp>
      <p:sp>
        <p:nvSpPr>
          <p:cNvPr name="TextBox 21" id="21"/>
          <p:cNvSpPr txBox="true"/>
          <p:nvPr/>
        </p:nvSpPr>
        <p:spPr>
          <a:xfrm rot="0">
            <a:off x="8720122" y="1406218"/>
            <a:ext cx="5780387" cy="2489701"/>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Bảo mật và Tuân thủ</a:t>
            </a:r>
          </a:p>
        </p:txBody>
      </p:sp>
      <p:sp>
        <p:nvSpPr>
          <p:cNvPr name="TextBox 22" id="22"/>
          <p:cNvSpPr txBox="true"/>
          <p:nvPr/>
        </p:nvSpPr>
        <p:spPr>
          <a:xfrm rot="0">
            <a:off x="8492056" y="5669856"/>
            <a:ext cx="7325824" cy="1305354"/>
          </a:xfrm>
          <a:prstGeom prst="rect">
            <a:avLst/>
          </a:prstGeom>
        </p:spPr>
        <p:txBody>
          <a:bodyPr anchor="t" rtlCol="false" tIns="0" lIns="0" bIns="0" rIns="0">
            <a:spAutoFit/>
          </a:bodyPr>
          <a:lstStyle/>
          <a:p>
            <a:pPr algn="just" marL="0" indent="0" lvl="0">
              <a:lnSpc>
                <a:spcPts val="2601"/>
              </a:lnSpc>
            </a:pPr>
            <a:r>
              <a:rPr lang="en-US" sz="1858" spc="-5">
                <a:solidFill>
                  <a:srgbClr val="3A58E4"/>
                </a:solidFill>
                <a:latin typeface="Poppins"/>
                <a:ea typeface="Poppins"/>
                <a:cs typeface="Poppins"/>
                <a:sym typeface="Poppins"/>
              </a:rPr>
              <a:t>F5 NGINX Plus cung cấp giải pháp bảo mật toàn diện với tích hợp WAF, SSL/TLS nâng cao và kiểm soát truy cập chi tiết. Đảm bảo hệ thống luôn được bảo vệ và tuân thủ các chuẩn bảo mật doanh nghiệp.</a:t>
            </a:r>
          </a:p>
        </p:txBody>
      </p:sp>
      <p:sp>
        <p:nvSpPr>
          <p:cNvPr name="TextBox 23" id="23"/>
          <p:cNvSpPr txBox="true"/>
          <p:nvPr/>
        </p:nvSpPr>
        <p:spPr>
          <a:xfrm rot="0">
            <a:off x="8274055" y="7461321"/>
            <a:ext cx="5481943" cy="1629204"/>
          </a:xfrm>
          <a:prstGeom prst="rect">
            <a:avLst/>
          </a:prstGeom>
        </p:spPr>
        <p:txBody>
          <a:bodyPr anchor="t" rtlCol="false" tIns="0" lIns="0" bIns="0" rIns="0">
            <a:spAutoFit/>
          </a:bodyPr>
          <a:lstStyle/>
          <a:p>
            <a:pPr algn="just" marL="0" indent="0" lvl="0">
              <a:lnSpc>
                <a:spcPts val="2601"/>
              </a:lnSpc>
            </a:pPr>
            <a:r>
              <a:rPr lang="en-US" sz="1858" spc="-5">
                <a:solidFill>
                  <a:srgbClr val="3A58E4"/>
                </a:solidFill>
                <a:latin typeface="Poppins"/>
                <a:ea typeface="Poppins"/>
                <a:cs typeface="Poppins"/>
                <a:sym typeface="Poppins"/>
              </a:rPr>
              <a:t>Tích hợp WAF bảo vệ khỏi tấn công web</a:t>
            </a:r>
          </a:p>
          <a:p>
            <a:pPr algn="just" marL="0" indent="0" lvl="0">
              <a:lnSpc>
                <a:spcPts val="2601"/>
              </a:lnSpc>
            </a:pPr>
            <a:r>
              <a:rPr lang="en-US" sz="1858" spc="-5">
                <a:solidFill>
                  <a:srgbClr val="3A58E4"/>
                </a:solidFill>
                <a:latin typeface="Poppins"/>
                <a:ea typeface="Poppins"/>
                <a:cs typeface="Poppins"/>
                <a:sym typeface="Poppins"/>
              </a:rPr>
              <a:t>SSL/TLS nâng cao với quản lý chứng chỉ tự động</a:t>
            </a:r>
          </a:p>
          <a:p>
            <a:pPr algn="just" marL="0" indent="0" lvl="0">
              <a:lnSpc>
                <a:spcPts val="2601"/>
              </a:lnSpc>
            </a:pPr>
            <a:r>
              <a:rPr lang="en-US" sz="1858" spc="-5">
                <a:solidFill>
                  <a:srgbClr val="3A58E4"/>
                </a:solidFill>
                <a:latin typeface="Poppins"/>
                <a:ea typeface="Poppins"/>
                <a:cs typeface="Poppins"/>
                <a:sym typeface="Poppins"/>
              </a:rPr>
              <a:t>Kiểm soát truy cập chi tiết theo vai trò</a:t>
            </a:r>
          </a:p>
          <a:p>
            <a:pPr algn="just" marL="0" indent="0" lvl="0">
              <a:lnSpc>
                <a:spcPts val="2601"/>
              </a:lnSpc>
            </a:pPr>
            <a:r>
              <a:rPr lang="en-US" sz="1858" spc="-5">
                <a:solidFill>
                  <a:srgbClr val="3A58E4"/>
                </a:solidFill>
                <a:latin typeface="Poppins"/>
                <a:ea typeface="Poppins"/>
                <a:cs typeface="Poppins"/>
                <a:sym typeface="Poppins"/>
              </a:rPr>
              <a:t>Vá lỗi nhanh, cập nhật bảo mật kịp thời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358088"/>
            <a:ext cx="5445624" cy="2370056"/>
            <a:chOff x="0" y="0"/>
            <a:chExt cx="7260833" cy="3160074"/>
          </a:xfrm>
        </p:grpSpPr>
        <p:sp>
          <p:nvSpPr>
            <p:cNvPr name="TextBox 3" id="3"/>
            <p:cNvSpPr txBox="true"/>
            <p:nvPr/>
          </p:nvSpPr>
          <p:spPr>
            <a:xfrm rot="0">
              <a:off x="304088" y="671102"/>
              <a:ext cx="6956745" cy="2488972"/>
            </a:xfrm>
            <a:prstGeom prst="rect">
              <a:avLst/>
            </a:prstGeom>
          </p:spPr>
          <p:txBody>
            <a:bodyPr anchor="t" rtlCol="false" tIns="0" lIns="0" bIns="0" rIns="0">
              <a:spAutoFit/>
            </a:bodyPr>
            <a:lstStyle/>
            <a:p>
              <a:pPr algn="l" marL="0" indent="0" lvl="0">
                <a:lnSpc>
                  <a:spcPts val="7032"/>
                </a:lnSpc>
              </a:pPr>
              <a:r>
                <a:rPr lang="en-US" sz="7176" spc="-45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Hỗ trợ Doanh nghiệp và SLA</a:t>
              </a:r>
            </a:p>
          </p:txBody>
        </p:sp>
        <p:grpSp>
          <p:nvGrpSpPr>
            <p:cNvPr name="Group 4" id="4"/>
            <p:cNvGrpSpPr/>
            <p:nvPr/>
          </p:nvGrpSpPr>
          <p:grpSpPr>
            <a:xfrm rot="0">
              <a:off x="0" y="0"/>
              <a:ext cx="63500" cy="2720890"/>
              <a:chOff x="0" y="0"/>
              <a:chExt cx="12543" cy="537460"/>
            </a:xfrm>
          </p:grpSpPr>
          <p:sp>
            <p:nvSpPr>
              <p:cNvPr name="Freeform 5" id="5"/>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6" id="6"/>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grpSp>
        <p:nvGrpSpPr>
          <p:cNvPr name="Group 7" id="7"/>
          <p:cNvGrpSpPr/>
          <p:nvPr/>
        </p:nvGrpSpPr>
        <p:grpSpPr>
          <a:xfrm rot="0">
            <a:off x="1028700" y="4411059"/>
            <a:ext cx="8201025" cy="281061"/>
            <a:chOff x="0" y="0"/>
            <a:chExt cx="10934700" cy="374748"/>
          </a:xfrm>
        </p:grpSpPr>
        <p:sp>
          <p:nvSpPr>
            <p:cNvPr name="TextBox 8" id="8"/>
            <p:cNvSpPr txBox="true"/>
            <p:nvPr/>
          </p:nvSpPr>
          <p:spPr>
            <a:xfrm rot="0">
              <a:off x="0" y="-20486"/>
              <a:ext cx="10820400" cy="395234"/>
            </a:xfrm>
            <a:prstGeom prst="rect">
              <a:avLst/>
            </a:prstGeom>
          </p:spPr>
          <p:txBody>
            <a:bodyPr anchor="t" rtlCol="false" tIns="0" lIns="0" bIns="0" rIns="0">
              <a:spAutoFit/>
            </a:bodyPr>
            <a:lstStyle/>
            <a:p>
              <a:pPr algn="l" marL="0" indent="0" lvl="0">
                <a:lnSpc>
                  <a:spcPts val="2430"/>
                </a:lnSpc>
              </a:pPr>
              <a:r>
                <a:rPr lang="en-US" b="true" sz="1735" spc="-43">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CAM KẾT DỊCH VỤ VÀ HỖ TRỢ KỸ THUẬT CHUYÊN NGHIỆP TỪ F5 NGINX PLUS</a:t>
              </a:r>
            </a:p>
          </p:txBody>
        </p:sp>
      </p:grpSp>
      <p:sp>
        <p:nvSpPr>
          <p:cNvPr name="TextBox 9" id="9"/>
          <p:cNvSpPr txBox="true"/>
          <p:nvPr/>
        </p:nvSpPr>
        <p:spPr>
          <a:xfrm rot="0">
            <a:off x="1028700" y="6975493"/>
            <a:ext cx="8201025" cy="2282807"/>
          </a:xfrm>
          <a:prstGeom prst="rect">
            <a:avLst/>
          </a:prstGeom>
        </p:spPr>
        <p:txBody>
          <a:bodyPr anchor="t" rtlCol="false" tIns="0" lIns="0" bIns="0" rIns="0">
            <a:spAutoFit/>
          </a:bodyPr>
          <a:lstStyle/>
          <a:p>
            <a:pPr algn="just" marL="0" indent="0" lvl="0">
              <a:lnSpc>
                <a:spcPts val="2276"/>
              </a:lnSpc>
            </a:pPr>
            <a:r>
              <a:rPr lang="en-US" sz="1625" spc="-4">
                <a:solidFill>
                  <a:srgbClr val="3A58E4"/>
                </a:solidFill>
                <a:latin typeface="Poppins"/>
                <a:ea typeface="Poppins"/>
                <a:cs typeface="Poppins"/>
                <a:sym typeface="Poppins"/>
              </a:rPr>
              <a:t>Hỗ trợ kỹ thuật 24/7: Đội ngũ chuyên gia F5 giàu kinh nghiệm sẵn sàng hỗ trợ mọi lúc, đảm bảo hệ thống luôn vận hành ổn định.</a:t>
            </a:r>
          </a:p>
          <a:p>
            <a:pPr algn="just" marL="0" indent="0" lvl="0">
              <a:lnSpc>
                <a:spcPts val="2276"/>
              </a:lnSpc>
            </a:pPr>
            <a:r>
              <a:rPr lang="en-US" sz="1625" spc="-4">
                <a:solidFill>
                  <a:srgbClr val="3A58E4"/>
                </a:solidFill>
                <a:latin typeface="Poppins"/>
                <a:ea typeface="Poppins"/>
                <a:cs typeface="Poppins"/>
                <a:sym typeface="Poppins"/>
              </a:rPr>
              <a:t>Cam kết SLA rõ ràng: Thời gian phản hồi sự cố nghiêm trọng trong vòng 1 giờ, sự cố thường trong 4 giờ. Cam kết uptime 99.99%.</a:t>
            </a:r>
          </a:p>
          <a:p>
            <a:pPr algn="just" marL="0" indent="0" lvl="0">
              <a:lnSpc>
                <a:spcPts val="2276"/>
              </a:lnSpc>
            </a:pPr>
            <a:r>
              <a:rPr lang="en-US" sz="1625" spc="-4">
                <a:solidFill>
                  <a:srgbClr val="3A58E4"/>
                </a:solidFill>
                <a:latin typeface="Poppins"/>
                <a:ea typeface="Poppins"/>
                <a:cs typeface="Poppins"/>
                <a:sym typeface="Poppins"/>
              </a:rPr>
              <a:t>Giảm thiểu rủi ro vận hành: Dịch vụ tư vấn chuyên nghiệp, hướng dẫn best practices, và hỗ trợ proactive giúp ngăn ngừa sự cố trước khi xảy ra.</a:t>
            </a:r>
          </a:p>
          <a:p>
            <a:pPr algn="just" marL="0" indent="0" lvl="0">
              <a:lnSpc>
                <a:spcPts val="2276"/>
              </a:lnSpc>
            </a:pPr>
            <a:r>
              <a:rPr lang="en-US" sz="1625" spc="-4">
                <a:solidFill>
                  <a:srgbClr val="3A58E4"/>
                </a:solidFill>
                <a:latin typeface="Poppins"/>
                <a:ea typeface="Poppins"/>
                <a:cs typeface="Poppins"/>
                <a:sym typeface="Poppins"/>
              </a:rPr>
              <a:t>Đào tạo và tài liệu: Truy cập đầy đủ knowledge base, tài liệu kỹ thuật và chương trình đào tạo cho đội ngũ vận hành.</a:t>
            </a:r>
          </a:p>
        </p:txBody>
      </p:sp>
      <p:grpSp>
        <p:nvGrpSpPr>
          <p:cNvPr name="Group 10" id="10"/>
          <p:cNvGrpSpPr/>
          <p:nvPr/>
        </p:nvGrpSpPr>
        <p:grpSpPr>
          <a:xfrm rot="0">
            <a:off x="16438046" y="268111"/>
            <a:ext cx="1849954" cy="1580055"/>
            <a:chOff x="0" y="0"/>
            <a:chExt cx="2466605" cy="2106740"/>
          </a:xfrm>
        </p:grpSpPr>
        <p:grpSp>
          <p:nvGrpSpPr>
            <p:cNvPr name="Group 11" id="11"/>
            <p:cNvGrpSpPr/>
            <p:nvPr/>
          </p:nvGrpSpPr>
          <p:grpSpPr>
            <a:xfrm rot="0">
              <a:off x="0" y="0"/>
              <a:ext cx="2466605" cy="2106740"/>
              <a:chOff x="0" y="0"/>
              <a:chExt cx="787566" cy="672664"/>
            </a:xfrm>
          </p:grpSpPr>
          <p:sp>
            <p:nvSpPr>
              <p:cNvPr name="Freeform 12" id="12"/>
              <p:cNvSpPr/>
              <p:nvPr/>
            </p:nvSpPr>
            <p:spPr>
              <a:xfrm flipH="false" flipV="false" rot="0">
                <a:off x="0" y="0"/>
                <a:ext cx="787566" cy="672664"/>
              </a:xfrm>
              <a:custGeom>
                <a:avLst/>
                <a:gdLst/>
                <a:ahLst/>
                <a:cxnLst/>
                <a:rect r="r" b="b" t="t" l="l"/>
                <a:pathLst>
                  <a:path h="672664" w="787566">
                    <a:moveTo>
                      <a:pt x="0" y="0"/>
                    </a:moveTo>
                    <a:lnTo>
                      <a:pt x="787566" y="0"/>
                    </a:lnTo>
                    <a:lnTo>
                      <a:pt x="787566" y="672664"/>
                    </a:lnTo>
                    <a:lnTo>
                      <a:pt x="0" y="672664"/>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3" id="13"/>
              <p:cNvSpPr txBox="true"/>
              <p:nvPr/>
            </p:nvSpPr>
            <p:spPr>
              <a:xfrm>
                <a:off x="0" y="-38100"/>
                <a:ext cx="787566" cy="71076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319164" y="655949"/>
              <a:ext cx="1828278" cy="880567"/>
            </a:xfrm>
            <a:prstGeom prst="rect">
              <a:avLst/>
            </a:prstGeom>
          </p:spPr>
          <p:txBody>
            <a:bodyPr anchor="t" rtlCol="false" tIns="0" lIns="0" bIns="0" rIns="0">
              <a:spAutoFit/>
            </a:bodyPr>
            <a:lstStyle/>
            <a:p>
              <a:pPr algn="ctr" marL="0" indent="0" lvl="0">
                <a:lnSpc>
                  <a:spcPts val="4706"/>
                </a:lnSpc>
              </a:pPr>
              <a:r>
                <a:rPr lang="en-US" sz="4802" spc="-307">
                  <a:solidFill>
                    <a:srgbClr val="FFFFFF"/>
                  </a:solidFill>
                  <a:latin typeface="Bricolage Grotesque"/>
                  <a:ea typeface="Bricolage Grotesque"/>
                  <a:cs typeface="Bricolage Grotesque"/>
                  <a:sym typeface="Bricolage Grotesque"/>
                </a:rPr>
                <a:t>10</a:t>
              </a:r>
            </a:p>
          </p:txBody>
        </p:sp>
      </p:grpSp>
      <p:sp>
        <p:nvSpPr>
          <p:cNvPr name="Freeform 15" id="15"/>
          <p:cNvSpPr/>
          <p:nvPr/>
        </p:nvSpPr>
        <p:spPr>
          <a:xfrm flipH="false" flipV="false" rot="0">
            <a:off x="10238319" y="2237830"/>
            <a:ext cx="7054004" cy="6604312"/>
          </a:xfrm>
          <a:custGeom>
            <a:avLst/>
            <a:gdLst/>
            <a:ahLst/>
            <a:cxnLst/>
            <a:rect r="r" b="b" t="t" l="l"/>
            <a:pathLst>
              <a:path h="6604312" w="7054004">
                <a:moveTo>
                  <a:pt x="0" y="0"/>
                </a:moveTo>
                <a:lnTo>
                  <a:pt x="7054004" y="0"/>
                </a:lnTo>
                <a:lnTo>
                  <a:pt x="7054004" y="6604312"/>
                </a:lnTo>
                <a:lnTo>
                  <a:pt x="0" y="6604312"/>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29"/>
            <a:ext cx="1849954" cy="1848037"/>
            <a:chOff x="0" y="0"/>
            <a:chExt cx="2466605" cy="2464050"/>
          </a:xfrm>
        </p:grpSpPr>
        <p:grpSp>
          <p:nvGrpSpPr>
            <p:cNvPr name="Group 3" id="3"/>
            <p:cNvGrpSpPr/>
            <p:nvPr/>
          </p:nvGrpSpPr>
          <p:grpSpPr>
            <a:xfrm rot="0">
              <a:off x="0" y="0"/>
              <a:ext cx="2466605" cy="2464050"/>
              <a:chOff x="0" y="0"/>
              <a:chExt cx="787566" cy="786750"/>
            </a:xfrm>
          </p:grpSpPr>
          <p:sp>
            <p:nvSpPr>
              <p:cNvPr name="Freeform 4" id="4"/>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11</a:t>
              </a:r>
            </a:p>
          </p:txBody>
        </p:sp>
      </p:grpSp>
      <p:grpSp>
        <p:nvGrpSpPr>
          <p:cNvPr name="Group 7" id="7"/>
          <p:cNvGrpSpPr/>
          <p:nvPr/>
        </p:nvGrpSpPr>
        <p:grpSpPr>
          <a:xfrm rot="0">
            <a:off x="5536445" y="2779355"/>
            <a:ext cx="7215109" cy="379246"/>
            <a:chOff x="0" y="0"/>
            <a:chExt cx="9620146" cy="505662"/>
          </a:xfrm>
        </p:grpSpPr>
        <p:sp>
          <p:nvSpPr>
            <p:cNvPr name="TextBox 8" id="8"/>
            <p:cNvSpPr txBox="true"/>
            <p:nvPr/>
          </p:nvSpPr>
          <p:spPr>
            <a:xfrm rot="0">
              <a:off x="0" y="-49117"/>
              <a:ext cx="9403826"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CÁC GIAI ĐOẠN TRIỂN KHAI F5 NGINX PLUS</a:t>
              </a:r>
            </a:p>
          </p:txBody>
        </p:sp>
        <p:sp>
          <p:nvSpPr>
            <p:cNvPr name="Freeform 9" id="9"/>
            <p:cNvSpPr/>
            <p:nvPr/>
          </p:nvSpPr>
          <p:spPr>
            <a:xfrm flipH="false" flipV="false" rot="-8687136">
              <a:off x="9303126"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3363658" y="1894670"/>
            <a:ext cx="11560683" cy="627017"/>
          </a:xfrm>
          <a:prstGeom prst="rect">
            <a:avLst/>
          </a:prstGeom>
        </p:spPr>
        <p:txBody>
          <a:bodyPr anchor="t" rtlCol="false" tIns="0" lIns="0" bIns="0" rIns="0">
            <a:spAutoFit/>
          </a:bodyPr>
          <a:lstStyle/>
          <a:p>
            <a:pPr algn="ctr" marL="0" indent="0" lvl="0">
              <a:lnSpc>
                <a:spcPts val="4620"/>
              </a:lnSpc>
            </a:pPr>
            <a:r>
              <a:rPr lang="en-US" sz="4714" spc="-30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Timeline Triển khai</a:t>
            </a:r>
          </a:p>
        </p:txBody>
      </p:sp>
      <p:grpSp>
        <p:nvGrpSpPr>
          <p:cNvPr name="Group 11" id="11"/>
          <p:cNvGrpSpPr/>
          <p:nvPr/>
        </p:nvGrpSpPr>
        <p:grpSpPr>
          <a:xfrm rot="0">
            <a:off x="2731310" y="3878731"/>
            <a:ext cx="3213033" cy="5379569"/>
            <a:chOff x="0" y="0"/>
            <a:chExt cx="1387961" cy="2323857"/>
          </a:xfrm>
        </p:grpSpPr>
        <p:sp>
          <p:nvSpPr>
            <p:cNvPr name="Freeform 12" id="12"/>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2B42A8"/>
            </a:solidFill>
          </p:spPr>
        </p:sp>
        <p:sp>
          <p:nvSpPr>
            <p:cNvPr name="TextBox 13" id="13"/>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4" id="14"/>
          <p:cNvGrpSpPr/>
          <p:nvPr/>
        </p:nvGrpSpPr>
        <p:grpSpPr>
          <a:xfrm rot="0">
            <a:off x="5935426" y="3878731"/>
            <a:ext cx="3213033" cy="5379569"/>
            <a:chOff x="0" y="0"/>
            <a:chExt cx="1387961" cy="2323857"/>
          </a:xfrm>
        </p:grpSpPr>
        <p:sp>
          <p:nvSpPr>
            <p:cNvPr name="Freeform 15" id="15"/>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3A58E4"/>
            </a:solidFill>
          </p:spPr>
        </p:sp>
        <p:sp>
          <p:nvSpPr>
            <p:cNvPr name="TextBox 16" id="16"/>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7" id="17"/>
          <p:cNvGrpSpPr/>
          <p:nvPr/>
        </p:nvGrpSpPr>
        <p:grpSpPr>
          <a:xfrm rot="0">
            <a:off x="9139541" y="3878731"/>
            <a:ext cx="3213033" cy="5379569"/>
            <a:chOff x="0" y="0"/>
            <a:chExt cx="1387961" cy="2323857"/>
          </a:xfrm>
        </p:grpSpPr>
        <p:sp>
          <p:nvSpPr>
            <p:cNvPr name="Freeform 18" id="18"/>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6984FE"/>
            </a:solidFill>
          </p:spPr>
        </p:sp>
        <p:sp>
          <p:nvSpPr>
            <p:cNvPr name="TextBox 19" id="19"/>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0" id="20"/>
          <p:cNvGrpSpPr/>
          <p:nvPr/>
        </p:nvGrpSpPr>
        <p:grpSpPr>
          <a:xfrm rot="0">
            <a:off x="12343657" y="3878731"/>
            <a:ext cx="3213033" cy="5379569"/>
            <a:chOff x="0" y="0"/>
            <a:chExt cx="1387961" cy="2323857"/>
          </a:xfrm>
        </p:grpSpPr>
        <p:sp>
          <p:nvSpPr>
            <p:cNvPr name="Freeform 21" id="21"/>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9AADFF"/>
            </a:solidFill>
          </p:spPr>
        </p:sp>
        <p:sp>
          <p:nvSpPr>
            <p:cNvPr name="TextBox 22" id="22"/>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3" id="23"/>
          <p:cNvGrpSpPr/>
          <p:nvPr/>
        </p:nvGrpSpPr>
        <p:grpSpPr>
          <a:xfrm rot="5400000">
            <a:off x="2595745" y="7780405"/>
            <a:ext cx="622999" cy="351870"/>
            <a:chOff x="0" y="0"/>
            <a:chExt cx="1387983" cy="784032"/>
          </a:xfrm>
        </p:grpSpPr>
        <p:sp>
          <p:nvSpPr>
            <p:cNvPr name="Freeform 24" id="24"/>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AFBEFF"/>
            </a:solidFill>
          </p:spPr>
        </p:sp>
        <p:sp>
          <p:nvSpPr>
            <p:cNvPr name="TextBox 25" id="25"/>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6" id="26"/>
          <p:cNvGrpSpPr/>
          <p:nvPr/>
        </p:nvGrpSpPr>
        <p:grpSpPr>
          <a:xfrm rot="5400000">
            <a:off x="5780811" y="5004756"/>
            <a:ext cx="622999" cy="351870"/>
            <a:chOff x="0" y="0"/>
            <a:chExt cx="1387983" cy="784032"/>
          </a:xfrm>
        </p:grpSpPr>
        <p:sp>
          <p:nvSpPr>
            <p:cNvPr name="Freeform 27" id="27"/>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2B42A8"/>
            </a:solidFill>
          </p:spPr>
        </p:sp>
        <p:sp>
          <p:nvSpPr>
            <p:cNvPr name="TextBox 28" id="28"/>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9" id="29"/>
          <p:cNvGrpSpPr/>
          <p:nvPr/>
        </p:nvGrpSpPr>
        <p:grpSpPr>
          <a:xfrm rot="5400000">
            <a:off x="8984927" y="7780405"/>
            <a:ext cx="622999" cy="351870"/>
            <a:chOff x="0" y="0"/>
            <a:chExt cx="1387983" cy="784032"/>
          </a:xfrm>
        </p:grpSpPr>
        <p:sp>
          <p:nvSpPr>
            <p:cNvPr name="Freeform 30" id="30"/>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3A58E4"/>
            </a:solidFill>
          </p:spPr>
        </p:sp>
        <p:sp>
          <p:nvSpPr>
            <p:cNvPr name="TextBox 31" id="31"/>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5400000">
            <a:off x="12179518" y="5004756"/>
            <a:ext cx="622999" cy="351870"/>
            <a:chOff x="0" y="0"/>
            <a:chExt cx="1387983" cy="784032"/>
          </a:xfrm>
        </p:grpSpPr>
        <p:sp>
          <p:nvSpPr>
            <p:cNvPr name="Freeform 33" id="33"/>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6984FE"/>
            </a:solidFill>
          </p:spPr>
        </p:sp>
        <p:sp>
          <p:nvSpPr>
            <p:cNvPr name="TextBox 34" id="34"/>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5" id="35"/>
          <p:cNvGrpSpPr/>
          <p:nvPr/>
        </p:nvGrpSpPr>
        <p:grpSpPr>
          <a:xfrm rot="0">
            <a:off x="3269864" y="4392470"/>
            <a:ext cx="2135924" cy="1891827"/>
            <a:chOff x="0" y="0"/>
            <a:chExt cx="2847898" cy="2522436"/>
          </a:xfrm>
        </p:grpSpPr>
        <p:sp>
          <p:nvSpPr>
            <p:cNvPr name="TextBox 36" id="36"/>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CHUẨN BỊ &amp;</a:t>
              </a:r>
            </a:p>
            <a:p>
              <a:pPr algn="just" marL="0" indent="0" lvl="0">
                <a:lnSpc>
                  <a:spcPts val="2353"/>
                </a:lnSpc>
              </a:pPr>
              <a:r>
                <a:rPr lang="en-US" b="true" sz="1824" spc="-5">
                  <a:solidFill>
                    <a:srgbClr val="FFFFFF"/>
                  </a:solidFill>
                  <a:latin typeface="Poppins Bold"/>
                  <a:ea typeface="Poppins Bold"/>
                  <a:cs typeface="Poppins Bold"/>
                  <a:sym typeface="Poppins Bold"/>
                </a:rPr>
                <a:t>MUA LICENSE</a:t>
              </a:r>
            </a:p>
          </p:txBody>
        </p:sp>
        <p:sp>
          <p:nvSpPr>
            <p:cNvPr name="TextBox 37" id="37"/>
            <p:cNvSpPr txBox="true"/>
            <p:nvPr/>
          </p:nvSpPr>
          <p:spPr>
            <a:xfrm rot="0">
              <a:off x="0" y="1046964"/>
              <a:ext cx="2847898" cy="14754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Hoàn tất thủ tục mua license F5 NGINX Plus và chuẩn bị hạ tầng.</a:t>
              </a:r>
            </a:p>
          </p:txBody>
        </p:sp>
      </p:grpSp>
      <p:sp>
        <p:nvSpPr>
          <p:cNvPr name="TextBox 38" id="38"/>
          <p:cNvSpPr txBox="true"/>
          <p:nvPr/>
        </p:nvSpPr>
        <p:spPr>
          <a:xfrm rot="0">
            <a:off x="4470562" y="7550752"/>
            <a:ext cx="1445813" cy="1389683"/>
          </a:xfrm>
          <a:prstGeom prst="rect">
            <a:avLst/>
          </a:prstGeom>
        </p:spPr>
        <p:txBody>
          <a:bodyPr anchor="t" rtlCol="false" tIns="0" lIns="0" bIns="0" rIns="0">
            <a:spAutoFit/>
          </a:bodyPr>
          <a:lstStyle/>
          <a:p>
            <a:pPr algn="just" marL="0" indent="0" lvl="0">
              <a:lnSpc>
                <a:spcPts val="5554"/>
              </a:lnSpc>
            </a:pPr>
            <a:r>
              <a:rPr lang="en-US" sz="4306" spc="-12">
                <a:solidFill>
                  <a:srgbClr val="FFFFFF"/>
                </a:solidFill>
                <a:latin typeface="Bricolage Grotesque"/>
                <a:ea typeface="Bricolage Grotesque"/>
                <a:cs typeface="Bricolage Grotesque"/>
                <a:sym typeface="Bricolage Grotesque"/>
              </a:rPr>
              <a:t>TUẦN</a:t>
            </a:r>
          </a:p>
          <a:p>
            <a:pPr algn="just" marL="0" indent="0" lvl="0">
              <a:lnSpc>
                <a:spcPts val="5554"/>
              </a:lnSpc>
            </a:pPr>
            <a:r>
              <a:rPr lang="en-US" sz="4306" spc="-12">
                <a:solidFill>
                  <a:srgbClr val="FFFFFF"/>
                </a:solidFill>
                <a:latin typeface="Bricolage Grotesque"/>
                <a:ea typeface="Bricolage Grotesque"/>
                <a:cs typeface="Bricolage Grotesque"/>
                <a:sym typeface="Bricolage Grotesque"/>
              </a:rPr>
              <a:t>1-2</a:t>
            </a:r>
          </a:p>
        </p:txBody>
      </p:sp>
      <p:grpSp>
        <p:nvGrpSpPr>
          <p:cNvPr name="Group 39" id="39"/>
          <p:cNvGrpSpPr/>
          <p:nvPr/>
        </p:nvGrpSpPr>
        <p:grpSpPr>
          <a:xfrm rot="0">
            <a:off x="6473980" y="6698913"/>
            <a:ext cx="2135924" cy="1891827"/>
            <a:chOff x="0" y="0"/>
            <a:chExt cx="2847898" cy="2522436"/>
          </a:xfrm>
        </p:grpSpPr>
        <p:sp>
          <p:nvSpPr>
            <p:cNvPr name="TextBox 40" id="40"/>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TRIỂN KHAI THỬ NGHIỆM</a:t>
              </a:r>
            </a:p>
          </p:txBody>
        </p:sp>
        <p:sp>
          <p:nvSpPr>
            <p:cNvPr name="TextBox 41" id="41"/>
            <p:cNvSpPr txBox="true"/>
            <p:nvPr/>
          </p:nvSpPr>
          <p:spPr>
            <a:xfrm rot="0">
              <a:off x="0" y="1046964"/>
              <a:ext cx="2847898" cy="14754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Deploy và test trên môi trường non-prod, kiểm tra tính tương thích.</a:t>
              </a:r>
            </a:p>
          </p:txBody>
        </p:sp>
      </p:grpSp>
      <p:sp>
        <p:nvSpPr>
          <p:cNvPr name="TextBox 42" id="42"/>
          <p:cNvSpPr txBox="true"/>
          <p:nvPr/>
        </p:nvSpPr>
        <p:spPr>
          <a:xfrm rot="0">
            <a:off x="7425798" y="4102508"/>
            <a:ext cx="1578549" cy="1389683"/>
          </a:xfrm>
          <a:prstGeom prst="rect">
            <a:avLst/>
          </a:prstGeom>
        </p:spPr>
        <p:txBody>
          <a:bodyPr anchor="t" rtlCol="false" tIns="0" lIns="0" bIns="0" rIns="0">
            <a:spAutoFit/>
          </a:bodyPr>
          <a:lstStyle/>
          <a:p>
            <a:pPr algn="just" marL="0" indent="0" lvl="0">
              <a:lnSpc>
                <a:spcPts val="5554"/>
              </a:lnSpc>
            </a:pPr>
            <a:r>
              <a:rPr lang="en-US" sz="4306" spc="-12">
                <a:solidFill>
                  <a:srgbClr val="FFFFFF"/>
                </a:solidFill>
                <a:latin typeface="Bricolage Grotesque"/>
                <a:ea typeface="Bricolage Grotesque"/>
                <a:cs typeface="Bricolage Grotesque"/>
                <a:sym typeface="Bricolage Grotesque"/>
              </a:rPr>
              <a:t>TUẦN</a:t>
            </a:r>
          </a:p>
          <a:p>
            <a:pPr algn="just" marL="0" indent="0" lvl="0">
              <a:lnSpc>
                <a:spcPts val="5554"/>
              </a:lnSpc>
            </a:pPr>
            <a:r>
              <a:rPr lang="en-US" sz="4306" spc="-12">
                <a:solidFill>
                  <a:srgbClr val="FFFFFF"/>
                </a:solidFill>
                <a:latin typeface="Bricolage Grotesque"/>
                <a:ea typeface="Bricolage Grotesque"/>
                <a:cs typeface="Bricolage Grotesque"/>
                <a:sym typeface="Bricolage Grotesque"/>
              </a:rPr>
              <a:t>3</a:t>
            </a:r>
          </a:p>
        </p:txBody>
      </p:sp>
      <p:grpSp>
        <p:nvGrpSpPr>
          <p:cNvPr name="Group 43" id="43"/>
          <p:cNvGrpSpPr/>
          <p:nvPr/>
        </p:nvGrpSpPr>
        <p:grpSpPr>
          <a:xfrm rot="0">
            <a:off x="9681912" y="4668695"/>
            <a:ext cx="2135924" cy="1615602"/>
            <a:chOff x="0" y="0"/>
            <a:chExt cx="2847898" cy="2154136"/>
          </a:xfrm>
        </p:grpSpPr>
        <p:sp>
          <p:nvSpPr>
            <p:cNvPr name="TextBox 44" id="44"/>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TRIỂN KHAI PRODUCTION</a:t>
              </a:r>
            </a:p>
          </p:txBody>
        </p:sp>
        <p:sp>
          <p:nvSpPr>
            <p:cNvPr name="TextBox 45" id="45"/>
            <p:cNvSpPr txBox="true"/>
            <p:nvPr/>
          </p:nvSpPr>
          <p:spPr>
            <a:xfrm rot="0">
              <a:off x="0" y="1046964"/>
              <a:ext cx="2847898" cy="11071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Rollout chính thức trên production với giám sát chặt chẽ.</a:t>
              </a:r>
            </a:p>
          </p:txBody>
        </p:sp>
      </p:grpSp>
      <p:sp>
        <p:nvSpPr>
          <p:cNvPr name="TextBox 46" id="46"/>
          <p:cNvSpPr txBox="true"/>
          <p:nvPr/>
        </p:nvSpPr>
        <p:spPr>
          <a:xfrm rot="0">
            <a:off x="10617138" y="7550752"/>
            <a:ext cx="1711285" cy="1389683"/>
          </a:xfrm>
          <a:prstGeom prst="rect">
            <a:avLst/>
          </a:prstGeom>
        </p:spPr>
        <p:txBody>
          <a:bodyPr anchor="t" rtlCol="false" tIns="0" lIns="0" bIns="0" rIns="0">
            <a:spAutoFit/>
          </a:bodyPr>
          <a:lstStyle/>
          <a:p>
            <a:pPr algn="just" marL="0" indent="0" lvl="0">
              <a:lnSpc>
                <a:spcPts val="5554"/>
              </a:lnSpc>
            </a:pPr>
            <a:r>
              <a:rPr lang="en-US" sz="4306" spc="-12">
                <a:solidFill>
                  <a:srgbClr val="FFFFFF"/>
                </a:solidFill>
                <a:latin typeface="Bricolage Grotesque"/>
                <a:ea typeface="Bricolage Grotesque"/>
                <a:cs typeface="Bricolage Grotesque"/>
                <a:sym typeface="Bricolage Grotesque"/>
              </a:rPr>
              <a:t>TUẦN</a:t>
            </a:r>
          </a:p>
          <a:p>
            <a:pPr algn="just" marL="0" indent="0" lvl="0">
              <a:lnSpc>
                <a:spcPts val="5554"/>
              </a:lnSpc>
            </a:pPr>
            <a:r>
              <a:rPr lang="en-US" sz="4306" spc="-12">
                <a:solidFill>
                  <a:srgbClr val="FFFFFF"/>
                </a:solidFill>
                <a:latin typeface="Bricolage Grotesque"/>
                <a:ea typeface="Bricolage Grotesque"/>
                <a:cs typeface="Bricolage Grotesque"/>
                <a:sym typeface="Bricolage Grotesque"/>
              </a:rPr>
              <a:t>4-5</a:t>
            </a:r>
          </a:p>
        </p:txBody>
      </p:sp>
      <p:grpSp>
        <p:nvGrpSpPr>
          <p:cNvPr name="Group 47" id="47"/>
          <p:cNvGrpSpPr/>
          <p:nvPr/>
        </p:nvGrpSpPr>
        <p:grpSpPr>
          <a:xfrm rot="0">
            <a:off x="12886027" y="6698913"/>
            <a:ext cx="2135924" cy="1891827"/>
            <a:chOff x="0" y="0"/>
            <a:chExt cx="2847898" cy="2522436"/>
          </a:xfrm>
        </p:grpSpPr>
        <p:sp>
          <p:nvSpPr>
            <p:cNvPr name="TextBox 48" id="48"/>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THEO DÕI &amp;</a:t>
              </a:r>
            </a:p>
            <a:p>
              <a:pPr algn="just" marL="0" indent="0" lvl="0">
                <a:lnSpc>
                  <a:spcPts val="2353"/>
                </a:lnSpc>
              </a:pPr>
              <a:r>
                <a:rPr lang="en-US" b="true" sz="1824" spc="-5">
                  <a:solidFill>
                    <a:srgbClr val="FFFFFF"/>
                  </a:solidFill>
                  <a:latin typeface="Poppins Bold"/>
                  <a:ea typeface="Poppins Bold"/>
                  <a:cs typeface="Poppins Bold"/>
                  <a:sym typeface="Poppins Bold"/>
                </a:rPr>
                <a:t>TỐI ƯU</a:t>
              </a:r>
            </a:p>
          </p:txBody>
        </p:sp>
        <p:sp>
          <p:nvSpPr>
            <p:cNvPr name="TextBox 49" id="49"/>
            <p:cNvSpPr txBox="true"/>
            <p:nvPr/>
          </p:nvSpPr>
          <p:spPr>
            <a:xfrm rot="0">
              <a:off x="0" y="1046964"/>
              <a:ext cx="2847898" cy="14754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Giám sát hiệu năng, test tải và chuyển đổi chính thức hoàn toàn.</a:t>
              </a:r>
            </a:p>
          </p:txBody>
        </p:sp>
      </p:grpSp>
      <p:sp>
        <p:nvSpPr>
          <p:cNvPr name="TextBox 50" id="50"/>
          <p:cNvSpPr txBox="true"/>
          <p:nvPr/>
        </p:nvSpPr>
        <p:spPr>
          <a:xfrm rot="0">
            <a:off x="13837845" y="4102508"/>
            <a:ext cx="1578549" cy="1389683"/>
          </a:xfrm>
          <a:prstGeom prst="rect">
            <a:avLst/>
          </a:prstGeom>
        </p:spPr>
        <p:txBody>
          <a:bodyPr anchor="t" rtlCol="false" tIns="0" lIns="0" bIns="0" rIns="0">
            <a:spAutoFit/>
          </a:bodyPr>
          <a:lstStyle/>
          <a:p>
            <a:pPr algn="just" marL="0" indent="0" lvl="0">
              <a:lnSpc>
                <a:spcPts val="5554"/>
              </a:lnSpc>
            </a:pPr>
            <a:r>
              <a:rPr lang="en-US" sz="4306" spc="-12">
                <a:solidFill>
                  <a:srgbClr val="FFFFFF"/>
                </a:solidFill>
                <a:latin typeface="Bricolage Grotesque"/>
                <a:ea typeface="Bricolage Grotesque"/>
                <a:cs typeface="Bricolage Grotesque"/>
                <a:sym typeface="Bricolage Grotesque"/>
              </a:rPr>
              <a:t>TUẦN</a:t>
            </a:r>
          </a:p>
          <a:p>
            <a:pPr algn="just" marL="0" indent="0" lvl="0">
              <a:lnSpc>
                <a:spcPts val="5554"/>
              </a:lnSpc>
            </a:pPr>
            <a:r>
              <a:rPr lang="en-US" sz="4306" spc="-12">
                <a:solidFill>
                  <a:srgbClr val="FFFFFF"/>
                </a:solidFill>
                <a:latin typeface="Bricolage Grotesque"/>
                <a:ea typeface="Bricolage Grotesque"/>
                <a:cs typeface="Bricolage Grotesque"/>
                <a:sym typeface="Bricolage Grotesque"/>
              </a:rPr>
              <a:t>6+</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1206794"/>
            <a:ext cx="5217559" cy="2521349"/>
          </a:xfrm>
          <a:prstGeom prst="rect">
            <a:avLst/>
          </a:prstGeom>
        </p:spPr>
        <p:txBody>
          <a:bodyPr anchor="t" rtlCol="false" tIns="0" lIns="0" bIns="0" rIns="0">
            <a:spAutoFit/>
          </a:bodyPr>
          <a:lstStyle/>
          <a:p>
            <a:pPr algn="l" marL="0" indent="0" lvl="0">
              <a:lnSpc>
                <a:spcPts val="6580"/>
              </a:lnSpc>
            </a:pPr>
            <a:r>
              <a:rPr lang="en-US" sz="6714" spc="-4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Khuyến nghị và Bước tiếp theo</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49117"/>
              <a:ext cx="10820400"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ĐỀ XUẤT HÀNH ĐỘNG ĐỂ TRIỂN KHAI F5 NGINX PLUS</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129"/>
            <a:ext cx="1849954" cy="1848037"/>
            <a:chOff x="0" y="0"/>
            <a:chExt cx="2466605" cy="2464050"/>
          </a:xfrm>
        </p:grpSpPr>
        <p:grpSp>
          <p:nvGrpSpPr>
            <p:cNvPr name="Group 10" id="10"/>
            <p:cNvGrpSpPr/>
            <p:nvPr/>
          </p:nvGrpSpPr>
          <p:grpSpPr>
            <a:xfrm rot="0">
              <a:off x="0" y="0"/>
              <a:ext cx="2466605" cy="2464050"/>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12</a:t>
              </a:r>
            </a:p>
          </p:txBody>
        </p:sp>
      </p:grpSp>
      <p:sp>
        <p:nvSpPr>
          <p:cNvPr name="Freeform 14" id="14"/>
          <p:cNvSpPr/>
          <p:nvPr/>
        </p:nvSpPr>
        <p:spPr>
          <a:xfrm flipH="false" flipV="false" rot="0">
            <a:off x="10303292" y="1522821"/>
            <a:ext cx="6059612" cy="8862320"/>
          </a:xfrm>
          <a:custGeom>
            <a:avLst/>
            <a:gdLst/>
            <a:ahLst/>
            <a:cxnLst/>
            <a:rect r="r" b="b" t="t" l="l"/>
            <a:pathLst>
              <a:path h="8862320" w="6059612">
                <a:moveTo>
                  <a:pt x="0" y="0"/>
                </a:moveTo>
                <a:lnTo>
                  <a:pt x="6059612" y="0"/>
                </a:lnTo>
                <a:lnTo>
                  <a:pt x="6059612" y="8862320"/>
                </a:lnTo>
                <a:lnTo>
                  <a:pt x="0" y="8862320"/>
                </a:lnTo>
                <a:lnTo>
                  <a:pt x="0" y="0"/>
                </a:lnTo>
                <a:close/>
              </a:path>
            </a:pathLst>
          </a:custGeom>
          <a:blipFill>
            <a:blip r:embed="rId4"/>
            <a:stretch>
              <a:fillRect l="0" t="0" r="0" b="0"/>
            </a:stretch>
          </a:blipFill>
        </p:spPr>
      </p:sp>
      <p:sp>
        <p:nvSpPr>
          <p:cNvPr name="TextBox 15" id="15"/>
          <p:cNvSpPr txBox="true"/>
          <p:nvPr/>
        </p:nvSpPr>
        <p:spPr>
          <a:xfrm rot="0">
            <a:off x="1870201" y="5206429"/>
            <a:ext cx="7273799" cy="810357"/>
          </a:xfrm>
          <a:prstGeom prst="rect">
            <a:avLst/>
          </a:prstGeom>
        </p:spPr>
        <p:txBody>
          <a:bodyPr anchor="t" rtlCol="false" tIns="0" lIns="0" bIns="0" rIns="0">
            <a:spAutoFit/>
          </a:bodyPr>
          <a:lstStyle/>
          <a:p>
            <a:pPr algn="just" marL="0" indent="0" lvl="0">
              <a:lnSpc>
                <a:spcPts val="3171"/>
              </a:lnSpc>
            </a:pPr>
            <a:r>
              <a:rPr lang="en-US" sz="2265" spc="-56">
                <a:solidFill>
                  <a:srgbClr val="3A58E4"/>
                </a:solidFill>
                <a:latin typeface="Poppins"/>
                <a:ea typeface="Poppins"/>
                <a:cs typeface="Poppins"/>
                <a:sym typeface="Poppins"/>
              </a:rPr>
              <a:t>Đề xuất chốt mua license F5 NGINX Plus để đảm bảo an toàn, ổn định và phát triển bền vững.</a:t>
            </a:r>
          </a:p>
        </p:txBody>
      </p:sp>
      <p:sp>
        <p:nvSpPr>
          <p:cNvPr name="TextBox 16" id="16"/>
          <p:cNvSpPr txBox="true"/>
          <p:nvPr/>
        </p:nvSpPr>
        <p:spPr>
          <a:xfrm rot="0">
            <a:off x="1870201" y="6197721"/>
            <a:ext cx="7273799" cy="810357"/>
          </a:xfrm>
          <a:prstGeom prst="rect">
            <a:avLst/>
          </a:prstGeom>
        </p:spPr>
        <p:txBody>
          <a:bodyPr anchor="t" rtlCol="false" tIns="0" lIns="0" bIns="0" rIns="0">
            <a:spAutoFit/>
          </a:bodyPr>
          <a:lstStyle/>
          <a:p>
            <a:pPr algn="just" marL="0" indent="0" lvl="0">
              <a:lnSpc>
                <a:spcPts val="3171"/>
              </a:lnSpc>
            </a:pPr>
            <a:r>
              <a:rPr lang="en-US" sz="2265" spc="-56">
                <a:solidFill>
                  <a:srgbClr val="3A58E4"/>
                </a:solidFill>
                <a:latin typeface="Poppins"/>
                <a:ea typeface="Poppins"/>
                <a:cs typeface="Poppins"/>
                <a:sym typeface="Poppins"/>
              </a:rPr>
              <a:t>Bắt đầu triển khai theo timeline đã đề xuất, ưu tiên môi trường non-prod trước.</a:t>
            </a:r>
          </a:p>
        </p:txBody>
      </p:sp>
      <p:sp>
        <p:nvSpPr>
          <p:cNvPr name="TextBox 17" id="17"/>
          <p:cNvSpPr txBox="true"/>
          <p:nvPr/>
        </p:nvSpPr>
        <p:spPr>
          <a:xfrm rot="0">
            <a:off x="1870201" y="7189012"/>
            <a:ext cx="7273799" cy="810357"/>
          </a:xfrm>
          <a:prstGeom prst="rect">
            <a:avLst/>
          </a:prstGeom>
        </p:spPr>
        <p:txBody>
          <a:bodyPr anchor="t" rtlCol="false" tIns="0" lIns="0" bIns="0" rIns="0">
            <a:spAutoFit/>
          </a:bodyPr>
          <a:lstStyle/>
          <a:p>
            <a:pPr algn="just" marL="0" indent="0" lvl="0">
              <a:lnSpc>
                <a:spcPts val="3171"/>
              </a:lnSpc>
            </a:pPr>
            <a:r>
              <a:rPr lang="en-US" sz="2265" spc="-56">
                <a:solidFill>
                  <a:srgbClr val="3A58E4"/>
                </a:solidFill>
                <a:latin typeface="Poppins"/>
                <a:ea typeface="Poppins"/>
                <a:cs typeface="Poppins"/>
                <a:sym typeface="Poppins"/>
              </a:rPr>
              <a:t>Chuẩn bị tài liệu kỹ thuật và tổ chức đào tạo đội ngũ vận hành về NGINX Plus.</a:t>
            </a:r>
          </a:p>
        </p:txBody>
      </p:sp>
      <p:sp>
        <p:nvSpPr>
          <p:cNvPr name="TextBox 18" id="18"/>
          <p:cNvSpPr txBox="true"/>
          <p:nvPr/>
        </p:nvSpPr>
        <p:spPr>
          <a:xfrm rot="0">
            <a:off x="1870201" y="8180304"/>
            <a:ext cx="7273799" cy="810357"/>
          </a:xfrm>
          <a:prstGeom prst="rect">
            <a:avLst/>
          </a:prstGeom>
        </p:spPr>
        <p:txBody>
          <a:bodyPr anchor="t" rtlCol="false" tIns="0" lIns="0" bIns="0" rIns="0">
            <a:spAutoFit/>
          </a:bodyPr>
          <a:lstStyle/>
          <a:p>
            <a:pPr algn="just" marL="0" indent="0" lvl="0">
              <a:lnSpc>
                <a:spcPts val="3171"/>
              </a:lnSpc>
            </a:pPr>
            <a:r>
              <a:rPr lang="en-US" sz="2265" spc="-56">
                <a:solidFill>
                  <a:srgbClr val="3A58E4"/>
                </a:solidFill>
                <a:latin typeface="Poppins"/>
                <a:ea typeface="Poppins"/>
                <a:cs typeface="Poppins"/>
                <a:sym typeface="Poppins"/>
              </a:rPr>
              <a:t>Thiết lập hệ thống giám sát và đánh giá hiệu quả sau triển khai để tối ưu liên tục.</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1386" y="0"/>
            <a:ext cx="4646614" cy="10287000"/>
            <a:chOff x="0" y="0"/>
            <a:chExt cx="1223800" cy="2709333"/>
          </a:xfrm>
        </p:grpSpPr>
        <p:sp>
          <p:nvSpPr>
            <p:cNvPr name="Freeform 3" id="3"/>
            <p:cNvSpPr/>
            <p:nvPr/>
          </p:nvSpPr>
          <p:spPr>
            <a:xfrm flipH="false" flipV="false" rot="0">
              <a:off x="0" y="0"/>
              <a:ext cx="1223800" cy="2709333"/>
            </a:xfrm>
            <a:custGeom>
              <a:avLst/>
              <a:gdLst/>
              <a:ahLst/>
              <a:cxnLst/>
              <a:rect r="r" b="b" t="t" l="l"/>
              <a:pathLst>
                <a:path h="2709333" w="1223800">
                  <a:moveTo>
                    <a:pt x="0" y="0"/>
                  </a:moveTo>
                  <a:lnTo>
                    <a:pt x="1223800" y="0"/>
                  </a:lnTo>
                  <a:lnTo>
                    <a:pt x="1223800"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223800"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5102839" y="1172167"/>
            <a:ext cx="1723707" cy="7770980"/>
            <a:chOff x="0" y="0"/>
            <a:chExt cx="2298277" cy="10361306"/>
          </a:xfrm>
        </p:grpSpPr>
        <p:sp>
          <p:nvSpPr>
            <p:cNvPr name="Freeform 6" id="6"/>
            <p:cNvSpPr/>
            <p:nvPr/>
          </p:nvSpPr>
          <p:spPr>
            <a:xfrm flipH="false" flipV="false" rot="0">
              <a:off x="793507" y="0"/>
              <a:ext cx="698238" cy="947395"/>
            </a:xfrm>
            <a:custGeom>
              <a:avLst/>
              <a:gdLst/>
              <a:ahLst/>
              <a:cxnLst/>
              <a:rect r="r" b="b" t="t" l="l"/>
              <a:pathLst>
                <a:path h="947395" w="698238">
                  <a:moveTo>
                    <a:pt x="0" y="0"/>
                  </a:moveTo>
                  <a:lnTo>
                    <a:pt x="698238" y="0"/>
                  </a:lnTo>
                  <a:lnTo>
                    <a:pt x="698238" y="947395"/>
                  </a:lnTo>
                  <a:lnTo>
                    <a:pt x="0" y="947395"/>
                  </a:lnTo>
                  <a:lnTo>
                    <a:pt x="0" y="0"/>
                  </a:lnTo>
                  <a:close/>
                </a:path>
              </a:pathLst>
            </a:custGeom>
            <a:blipFill>
              <a:blip r:embed="rId2"/>
              <a:stretch>
                <a:fillRect l="0" t="0" r="0" b="0"/>
              </a:stretch>
            </a:blipFill>
          </p:spPr>
        </p:sp>
        <p:sp>
          <p:nvSpPr>
            <p:cNvPr name="TextBox 7" id="7"/>
            <p:cNvSpPr txBox="true"/>
            <p:nvPr/>
          </p:nvSpPr>
          <p:spPr>
            <a:xfrm rot="0">
              <a:off x="0" y="1253510"/>
              <a:ext cx="2272228" cy="398983"/>
            </a:xfrm>
            <a:prstGeom prst="rect">
              <a:avLst/>
            </a:prstGeom>
          </p:spPr>
          <p:txBody>
            <a:bodyPr anchor="t" rtlCol="false" tIns="0" lIns="0" bIns="0" rIns="0">
              <a:spAutoFit/>
            </a:bodyPr>
            <a:lstStyle/>
            <a:p>
              <a:pPr algn="ctr" marL="0" indent="0" lvl="0">
                <a:lnSpc>
                  <a:spcPts val="2108"/>
                </a:lnSpc>
              </a:pPr>
              <a:r>
                <a:rPr lang="en-US" b="true" sz="1970">
                  <a:solidFill>
                    <a:srgbClr val="FFFFFF"/>
                  </a:solidFill>
                  <a:latin typeface="Poppins Bold"/>
                  <a:ea typeface="Poppins Bold"/>
                  <a:cs typeface="Poppins Bold"/>
                  <a:sym typeface="Poppins Bold"/>
                </a:rPr>
                <a:t>F5 NGINX</a:t>
              </a:r>
            </a:p>
          </p:txBody>
        </p:sp>
        <p:sp>
          <p:nvSpPr>
            <p:cNvPr name="TextBox 8" id="8"/>
            <p:cNvSpPr txBox="true"/>
            <p:nvPr/>
          </p:nvSpPr>
          <p:spPr>
            <a:xfrm rot="0">
              <a:off x="13024" y="1652492"/>
              <a:ext cx="2272228" cy="398983"/>
            </a:xfrm>
            <a:prstGeom prst="rect">
              <a:avLst/>
            </a:prstGeom>
          </p:spPr>
          <p:txBody>
            <a:bodyPr anchor="t" rtlCol="false" tIns="0" lIns="0" bIns="0" rIns="0">
              <a:spAutoFit/>
            </a:bodyPr>
            <a:lstStyle/>
            <a:p>
              <a:pPr algn="ctr" marL="0" indent="0" lvl="0">
                <a:lnSpc>
                  <a:spcPts val="2108"/>
                </a:lnSpc>
              </a:pPr>
              <a:r>
                <a:rPr lang="en-US" sz="1970">
                  <a:solidFill>
                    <a:srgbClr val="FFFFFF"/>
                  </a:solidFill>
                  <a:latin typeface="Poppins"/>
                  <a:ea typeface="Poppins"/>
                  <a:cs typeface="Poppins"/>
                  <a:sym typeface="Poppins"/>
                </a:rPr>
                <a:t>Plus</a:t>
              </a:r>
            </a:p>
          </p:txBody>
        </p:sp>
        <p:sp>
          <p:nvSpPr>
            <p:cNvPr name="TextBox 9" id="9"/>
            <p:cNvSpPr txBox="true"/>
            <p:nvPr/>
          </p:nvSpPr>
          <p:spPr>
            <a:xfrm rot="0">
              <a:off x="13024" y="9563341"/>
              <a:ext cx="2272228" cy="398983"/>
            </a:xfrm>
            <a:prstGeom prst="rect">
              <a:avLst/>
            </a:prstGeom>
          </p:spPr>
          <p:txBody>
            <a:bodyPr anchor="t" rtlCol="false" tIns="0" lIns="0" bIns="0" rIns="0">
              <a:spAutoFit/>
            </a:bodyPr>
            <a:lstStyle/>
            <a:p>
              <a:pPr algn="ctr" marL="0" indent="0" lvl="0">
                <a:lnSpc>
                  <a:spcPts val="2108"/>
                </a:lnSpc>
              </a:pPr>
              <a:r>
                <a:rPr lang="en-US" b="true" sz="1970">
                  <a:solidFill>
                    <a:srgbClr val="FFFFFF"/>
                  </a:solidFill>
                  <a:latin typeface="Poppins Bold"/>
                  <a:ea typeface="Poppins Bold"/>
                  <a:cs typeface="Poppins Bold"/>
                  <a:sym typeface="Poppins Bold"/>
                </a:rPr>
                <a:t>2024</a:t>
              </a:r>
            </a:p>
          </p:txBody>
        </p:sp>
        <p:sp>
          <p:nvSpPr>
            <p:cNvPr name="TextBox 10" id="10"/>
            <p:cNvSpPr txBox="true"/>
            <p:nvPr/>
          </p:nvSpPr>
          <p:spPr>
            <a:xfrm rot="0">
              <a:off x="26049" y="9962324"/>
              <a:ext cx="2272228" cy="398983"/>
            </a:xfrm>
            <a:prstGeom prst="rect">
              <a:avLst/>
            </a:prstGeom>
          </p:spPr>
          <p:txBody>
            <a:bodyPr anchor="t" rtlCol="false" tIns="0" lIns="0" bIns="0" rIns="0">
              <a:spAutoFit/>
            </a:bodyPr>
            <a:lstStyle/>
            <a:p>
              <a:pPr algn="ctr" marL="0" indent="0" lvl="0">
                <a:lnSpc>
                  <a:spcPts val="2108"/>
                </a:lnSpc>
              </a:pPr>
              <a:r>
                <a:rPr lang="en-US" sz="1970">
                  <a:solidFill>
                    <a:srgbClr val="FFFFFF"/>
                  </a:solidFill>
                  <a:latin typeface="Poppins"/>
                  <a:ea typeface="Poppins"/>
                  <a:cs typeface="Poppins"/>
                  <a:sym typeface="Poppins"/>
                </a:rPr>
                <a:t>Q&amp;A</a:t>
              </a:r>
            </a:p>
          </p:txBody>
        </p:sp>
      </p:grpSp>
      <p:sp>
        <p:nvSpPr>
          <p:cNvPr name="Freeform 11" id="11"/>
          <p:cNvSpPr/>
          <p:nvPr/>
        </p:nvSpPr>
        <p:spPr>
          <a:xfrm flipH="false" flipV="false" rot="0">
            <a:off x="1028700" y="7308293"/>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028700" y="7988737"/>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28700" y="8673002"/>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8986465" y="0"/>
            <a:ext cx="4378150" cy="10287000"/>
            <a:chOff x="0" y="0"/>
            <a:chExt cx="678290" cy="1593725"/>
          </a:xfrm>
        </p:grpSpPr>
        <p:sp>
          <p:nvSpPr>
            <p:cNvPr name="Freeform 15" id="15"/>
            <p:cNvSpPr/>
            <p:nvPr/>
          </p:nvSpPr>
          <p:spPr>
            <a:xfrm flipH="false" flipV="false" rot="0">
              <a:off x="0" y="0"/>
              <a:ext cx="678290" cy="1593725"/>
            </a:xfrm>
            <a:custGeom>
              <a:avLst/>
              <a:gdLst/>
              <a:ahLst/>
              <a:cxnLst/>
              <a:rect r="r" b="b" t="t" l="l"/>
              <a:pathLst>
                <a:path h="1593725" w="678290">
                  <a:moveTo>
                    <a:pt x="0" y="0"/>
                  </a:moveTo>
                  <a:lnTo>
                    <a:pt x="678290" y="0"/>
                  </a:lnTo>
                  <a:lnTo>
                    <a:pt x="678290" y="1593725"/>
                  </a:lnTo>
                  <a:lnTo>
                    <a:pt x="0" y="1593725"/>
                  </a:lnTo>
                  <a:close/>
                </a:path>
              </a:pathLst>
            </a:custGeom>
            <a:blipFill>
              <a:blip r:embed="rId9"/>
              <a:stretch>
                <a:fillRect l="-16964" t="0" r="-16964" b="0"/>
              </a:stretch>
            </a:blipFill>
          </p:spPr>
        </p:sp>
      </p:grpSp>
      <p:sp>
        <p:nvSpPr>
          <p:cNvPr name="AutoShape 16" id="16"/>
          <p:cNvSpPr/>
          <p:nvPr/>
        </p:nvSpPr>
        <p:spPr>
          <a:xfrm>
            <a:off x="13503000" y="0"/>
            <a:ext cx="0" cy="10287000"/>
          </a:xfrm>
          <a:prstGeom prst="line">
            <a:avLst/>
          </a:prstGeom>
          <a:ln cap="rnd" w="19050">
            <a:solidFill>
              <a:srgbClr val="3A58E4"/>
            </a:solidFill>
            <a:prstDash val="solid"/>
            <a:headEnd type="none" len="sm" w="sm"/>
            <a:tailEnd type="none" len="sm" w="sm"/>
          </a:ln>
        </p:spPr>
      </p:sp>
      <p:sp>
        <p:nvSpPr>
          <p:cNvPr name="TextBox 17" id="17"/>
          <p:cNvSpPr txBox="true"/>
          <p:nvPr/>
        </p:nvSpPr>
        <p:spPr>
          <a:xfrm rot="0">
            <a:off x="14650619" y="5289380"/>
            <a:ext cx="2628148" cy="1670165"/>
          </a:xfrm>
          <a:prstGeom prst="rect">
            <a:avLst/>
          </a:prstGeom>
        </p:spPr>
        <p:txBody>
          <a:bodyPr anchor="t" rtlCol="false" tIns="0" lIns="0" bIns="0" rIns="0">
            <a:spAutoFit/>
          </a:bodyPr>
          <a:lstStyle/>
          <a:p>
            <a:pPr algn="just" marL="0" indent="0" lvl="0">
              <a:lnSpc>
                <a:spcPts val="2199"/>
              </a:lnSpc>
            </a:pPr>
            <a:r>
              <a:rPr lang="en-US" sz="1571" spc="-4">
                <a:solidFill>
                  <a:srgbClr val="FFFFFF"/>
                </a:solidFill>
                <a:latin typeface="Poppins"/>
                <a:ea typeface="Poppins"/>
                <a:cs typeface="Poppins"/>
                <a:sym typeface="Poppins"/>
              </a:rPr>
              <a:t>Cảm ơn sự chú ý của quý vị. Chúng tôi sẵn sàng giải đáp mọi thắc mắc về đề xuất thay thế NGINX Ingress Controller bằng F5 NGINX Plus.</a:t>
            </a:r>
          </a:p>
        </p:txBody>
      </p:sp>
      <p:sp>
        <p:nvSpPr>
          <p:cNvPr name="TextBox 18" id="18"/>
          <p:cNvSpPr txBox="true"/>
          <p:nvPr/>
        </p:nvSpPr>
        <p:spPr>
          <a:xfrm rot="0">
            <a:off x="1638585" y="7324490"/>
            <a:ext cx="2891575" cy="369045"/>
          </a:xfrm>
          <a:prstGeom prst="rect">
            <a:avLst/>
          </a:prstGeom>
        </p:spPr>
        <p:txBody>
          <a:bodyPr anchor="t" rtlCol="false" tIns="0" lIns="0" bIns="0" rIns="0">
            <a:spAutoFit/>
          </a:bodyPr>
          <a:lstStyle/>
          <a:p>
            <a:pPr algn="l" marL="0" indent="0" lvl="0">
              <a:lnSpc>
                <a:spcPts val="2740"/>
              </a:lnSpc>
            </a:pPr>
            <a:r>
              <a:rPr lang="en-US" sz="2403" spc="-91">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+84-xxx-xxx-xxx</a:t>
            </a:r>
          </a:p>
        </p:txBody>
      </p:sp>
      <p:sp>
        <p:nvSpPr>
          <p:cNvPr name="TextBox 19" id="19"/>
          <p:cNvSpPr txBox="true"/>
          <p:nvPr/>
        </p:nvSpPr>
        <p:spPr>
          <a:xfrm rot="0">
            <a:off x="1638585" y="7992073"/>
            <a:ext cx="5248389" cy="369045"/>
          </a:xfrm>
          <a:prstGeom prst="rect">
            <a:avLst/>
          </a:prstGeom>
        </p:spPr>
        <p:txBody>
          <a:bodyPr anchor="t" rtlCol="false" tIns="0" lIns="0" bIns="0" rIns="0">
            <a:spAutoFit/>
          </a:bodyPr>
          <a:lstStyle/>
          <a:p>
            <a:pPr algn="l" marL="0" indent="0" lvl="0">
              <a:lnSpc>
                <a:spcPts val="2740"/>
              </a:lnSpc>
            </a:pPr>
            <a:r>
              <a:rPr lang="en-US" sz="2403" spc="-91">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hungmanh.nguyen@company.com</a:t>
            </a:r>
          </a:p>
        </p:txBody>
      </p:sp>
      <p:sp>
        <p:nvSpPr>
          <p:cNvPr name="TextBox 20" id="20"/>
          <p:cNvSpPr txBox="true"/>
          <p:nvPr/>
        </p:nvSpPr>
        <p:spPr>
          <a:xfrm rot="0">
            <a:off x="1638585" y="8689199"/>
            <a:ext cx="4805157" cy="369045"/>
          </a:xfrm>
          <a:prstGeom prst="rect">
            <a:avLst/>
          </a:prstGeom>
        </p:spPr>
        <p:txBody>
          <a:bodyPr anchor="t" rtlCol="false" tIns="0" lIns="0" bIns="0" rIns="0">
            <a:spAutoFit/>
          </a:bodyPr>
          <a:lstStyle/>
          <a:p>
            <a:pPr algn="l" marL="0" indent="0" lvl="0">
              <a:lnSpc>
                <a:spcPts val="2740"/>
              </a:lnSpc>
            </a:pPr>
            <a:r>
              <a:rPr lang="en-US" sz="2403" spc="-91">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sre-devops.company.com</a:t>
            </a:r>
          </a:p>
        </p:txBody>
      </p:sp>
      <p:sp>
        <p:nvSpPr>
          <p:cNvPr name="TextBox 21" id="21"/>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Cảm ơn!</a:t>
            </a:r>
          </a:p>
        </p:txBody>
      </p:sp>
      <p:sp>
        <p:nvSpPr>
          <p:cNvPr name="TextBox 22" id="22"/>
          <p:cNvSpPr txBox="true"/>
          <p:nvPr/>
        </p:nvSpPr>
        <p:spPr>
          <a:xfrm rot="0">
            <a:off x="1028700" y="2316167"/>
            <a:ext cx="6671890" cy="2180870"/>
          </a:xfrm>
          <a:prstGeom prst="rect">
            <a:avLst/>
          </a:prstGeom>
        </p:spPr>
        <p:txBody>
          <a:bodyPr anchor="t" rtlCol="false" tIns="0" lIns="0" bIns="0" rIns="0">
            <a:spAutoFit/>
          </a:bodyPr>
          <a:lstStyle/>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Mời đặt</a:t>
            </a:r>
          </a:p>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DAHI8siw4Cc</dc:identifier>
  <dcterms:modified xsi:type="dcterms:W3CDTF">2011-08-01T06:04:30Z</dcterms:modified>
  <cp:revision>1</cp:revision>
  <dc:title>Đề xuất thay thế NGINX Ingress bằng NGINX Plus cho CTO</dc:title>
</cp:coreProperties>
</file>